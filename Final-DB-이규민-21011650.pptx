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48"/>
  </p:notesMasterIdLst>
  <p:sldIdLst>
    <p:sldId id="256" r:id="rId2"/>
    <p:sldId id="259" r:id="rId3"/>
    <p:sldId id="257" r:id="rId4"/>
    <p:sldId id="258" r:id="rId5"/>
    <p:sldId id="267" r:id="rId6"/>
    <p:sldId id="270" r:id="rId7"/>
    <p:sldId id="265" r:id="rId8"/>
    <p:sldId id="266" r:id="rId9"/>
    <p:sldId id="269" r:id="rId10"/>
    <p:sldId id="261" r:id="rId11"/>
    <p:sldId id="271" r:id="rId12"/>
    <p:sldId id="272" r:id="rId13"/>
    <p:sldId id="273" r:id="rId14"/>
    <p:sldId id="274" r:id="rId15"/>
    <p:sldId id="275" r:id="rId16"/>
    <p:sldId id="276" r:id="rId17"/>
    <p:sldId id="263" r:id="rId18"/>
    <p:sldId id="293" r:id="rId19"/>
    <p:sldId id="278" r:id="rId20"/>
    <p:sldId id="291" r:id="rId21"/>
    <p:sldId id="280" r:id="rId22"/>
    <p:sldId id="277" r:id="rId23"/>
    <p:sldId id="294" r:id="rId24"/>
    <p:sldId id="295" r:id="rId25"/>
    <p:sldId id="296" r:id="rId26"/>
    <p:sldId id="282" r:id="rId27"/>
    <p:sldId id="284" r:id="rId28"/>
    <p:sldId id="285" r:id="rId29"/>
    <p:sldId id="286" r:id="rId30"/>
    <p:sldId id="287" r:id="rId31"/>
    <p:sldId id="288" r:id="rId32"/>
    <p:sldId id="300" r:id="rId33"/>
    <p:sldId id="301" r:id="rId34"/>
    <p:sldId id="303" r:id="rId35"/>
    <p:sldId id="304" r:id="rId36"/>
    <p:sldId id="305" r:id="rId37"/>
    <p:sldId id="309" r:id="rId38"/>
    <p:sldId id="307" r:id="rId39"/>
    <p:sldId id="308" r:id="rId40"/>
    <p:sldId id="310" r:id="rId41"/>
    <p:sldId id="311" r:id="rId42"/>
    <p:sldId id="312" r:id="rId43"/>
    <p:sldId id="313" r:id="rId44"/>
    <p:sldId id="315" r:id="rId45"/>
    <p:sldId id="314" r:id="rId46"/>
    <p:sldId id="316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9" autoAdjust="0"/>
    <p:restoredTop sz="94660"/>
  </p:normalViewPr>
  <p:slideViewPr>
    <p:cSldViewPr snapToGrid="0">
      <p:cViewPr>
        <p:scale>
          <a:sx n="100" d="100"/>
          <a:sy n="100" d="100"/>
        </p:scale>
        <p:origin x="1301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34.1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0,'556'0,"-540"1,1 1,-1 1,31 8,-29-6,0-1,0 0,19 0,148-3,-84-3,-82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37.7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2,'66'0,"-4"-2,0 3,0 3,89 16,130 35,-238-50,60-3,-63-2,75 9,-36 9,-53-12,0 0,1-1,27 1,31-6,-61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39.3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89,'70'1,"-28"1,0-2,1-2,-1-1,76-18,37-10,-56 13,-42 10,1 3,-1 2,90 6,-94-1,206 15,-238-16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40.9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3,'30'19,"-8"-7,-10-4,0-1,1 0,0-1,0-1,1 0,0 0,-1-2,1 0,1 0,16 0,18-1,82-8,-69 2,13 1,0-3,0-4,116-30,-167 34,1 1,-1 0,44-1,78 7,-57 1,165-2,-231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42.6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1,'766'0,"-750"1,0 0,-1 2,1 0,15 5,-14-3,1-1,-1 0,21 1,28 0,105 23,-111-14,24 5,-5-10,103-1,-162-8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49.4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1,'2'3,"0"-1,0 1,1 0,-1-1,1 1,0-1,-1 0,1 0,0 0,5 2,-2 0,118 97,-119-97,37 32,-16-15,-1 2,26 29,-17-11,50 63,-73-89,-1 1,-1 1,-1-1,0 2,6 18,6 24,-8-26,-2 0,8 40,16 186,-19-130,6 121,-22-177,-2-1,-4 1,-27 123,10-80,-9 30,21-100,-9 82,-4 17,4-11,1-4,8-70,-7 119,15 63,4-222,-1 8,-2-1,-9 42,5-34,-2 35,6-39,-1-1,-2 1,-19 61,21-80,1 1,0 0,0 14,1-7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53.2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1816 1,'0'4,"-1"0,1 0,-1 0,0 0,0 0,0 0,-1 0,1 0,-1-1,0 1,0-1,-3 5,-35 37,23-28,-138 147,-243 280,311-331,-220 253,194-252,8-11,-152 194,223-244,1 2,-33 78,-2 4,39-78,15-30,-18 28,27-50,-1 2,0 0,1 0,0 1,-6 14,11-23,-1 0,1 0,-1 1,1-1,-1 0,1 1,0-1,0 0,0 1,0-1,0 0,0 1,0-1,0 0,0 1,1-1,-1 0,0 0,1 1,-1-1,1 0,0 0,-1 0,1 1,0-1,0 0,-1 0,1 0,0 0,0 0,0-1,0 1,0 0,1 0,-1-1,0 1,0 0,0-1,1 1,-1-1,0 0,1 1,-1-1,3 0,16 2,1-2,0 0,0-1,-1-1,28-6,0 1,695-70,-211 71,-314 7,-198 1,-1 0,1 1,34 9,11 3,43 8,39 5,-22-13,-99-14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54.8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794 1,'-1'5,"0"0,0 0,-1 0,0 0,0 0,0 0,0-1,-1 1,1-1,-1 0,-1 1,-5 6,-4 5,-311 375,241-308,-3-5,-116 82,197-156,1 1,-1-1,1 1,0 0,1 0,-1 0,1 1,0-1,0 1,1-1,0 1,0 0,0 0,1 0,-1 0,1 0,0 10,1 0,-1 0,2 0,0 0,1 0,7 27,-2-20,1-1,1 0,20 36,45 60,-48-80,129 177,-123-178,1 0,2-3,55 43,-38-40,-21-16,28 26,52 41,-77-63,0 2,-2 0,52 59,-71-69,0-2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7:56.3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1010 0,'-1'3,"0"-1,1 1,-2-1,1 0,0 1,0-1,-1 0,1 0,-1 0,1 0,-1 0,-2 2,-3 4,-18 22,-1-1,-2-2,0 0,-38 26,-135 79,175-117,-1-2,-1-2,-36 12,33-13,0 1,-48 26,31-9,-190 121,235-146,0 0,0 0,0 0,0 1,0-1,1 1,-1 0,1 0,0-1,0 1,0 1,1-1,0 0,-1 0,2 1,-1-1,0 0,1 1,0-1,0 1,0-1,1 8,3 8,0 0,1 1,13 30,-9-26,109 287,-83-234,87 139,-70-140,94 158,42 72,-114-194,98 200,-52-64,-106-219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19:04.4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424 0,'6'1,"-1"-1,1 1,0 0,-1 0,1 0,-1 1,1 0,-1 0,0 1,0-1,0 1,0 0,5 5,6 5,-1 1,19 23,15 14,210 173,-64-64,-146-122,17 16,116 71,-98-79,72 45,-114-70,6 6,-56-25,-9-1,-90-12,-201-47,193 33,-102-7,-21-4,114 16,-5-1,85 14,0 1,-1 3,0 1,-48 5,0 0,43-3,28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1:21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1,'0'52,"-1"58,18 139,-9-208,26 76,-22-77,38 114,107 231,-74-195,22 40,86 102,-38-113,-72-83,-68-114,2-1,1 0,22 23,-18-21,31 43,-7 0,47 83,-51-75,53 72,-59-86,-26-44,1 0,17 23,-15-25,0 1,-1 1,0 0,-1 0,-1 0,6 20,-10-24,-1-1,-1 0,0 1,-1-1,0 1,-1-1,0 1,0 0,-1-1,-6 23,2-11,-2-1,0 1,-2-1,0-1,-2 1,0-2,-1 0,-1 0,-1-1,-18 19,-144 133,17-18,-154 162,271-275,1 2,3 2,1 1,-44 72,23-15,-74 177,106-227,17-36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1:23.0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0,'4'2,"-1"0,0 0,0 0,0 1,0-1,-1 1,1 0,-1 0,1 0,1 4,2 0,8 7,1 0,1-1,0 0,34 19,29 22,-50-29,178 134,-191-151,0 0,0 0,1-2,0 0,25 5,-19-5,0 1,23 10,107 44,15 7,-136-49,-24-14,0 0,0 0,0-1,0-1,10 4,14 4,0 1,36 20,-67-31,121 67,-35-18,119 69,-126-72,-32-17,74 34,52 26,-24-10,204 87,-103-48,61 27,-171-81,32 12,-81-40,120 66,38 26,-197-104,25 11,58 31,-31-6,-17-11,127 95,16 47,-164-131,77 91,138 236,-258-356,-18-26,-1 0,0 1,0 0,0 0,-1 0,0 0,3 9,-4-1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9T05:12:17.7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3914 0,'-6'2,"1"-1,0 1,1 0,-1 0,0 0,-8 7,0-2,-654 326,626-317,0-1,-58 11,-63 30,71-22,-285 75,14-6,-285 122,636-221,0 1,-1 0,1 0,1 1,-1 1,1 0,1 0,-1 1,1 0,0 1,1 0,0 0,1 1,-11 15,14-18,1 0,0 1,0-1,0 0,1 1,0 0,1-1,-1 1,1 0,1 0,0 0,0 0,0 0,1-1,0 1,1 0,0 0,0-1,0 1,1-1,0 0,1 0,5 10,24 28,2-1,2-2,2-2,2-1,49 36,-60-52,-21-17,0 0,-1 1,14 14,-21-20,0 1,0 0,0-1,0 1,0 0,-1 0,1 0,-1-1,1 1,-1 0,0 0,0 0,0 0,0 0,0 0,0 0,0 0,-1-1,1 1,-1 0,1 0,-1 0,0-1,0 1,0 0,0-1,0 1,0 0,0-1,-3 3,-4 6,-1 0,0-1,-14 10,22-18,-79 60,-2-3,-2-5,-149 71,206-114,-1 0,0-1,0-2,-1-1,0-1,0-2,-40 1,24 1,-1 1,1 3,-75 25,-25 5,59-24,52-10,0 1,1 1,0 2,-44 18,68-22,1 0,-1 1,1 0,0 0,-11 11,5-1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4:59.13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0,'14'1,"-1"0,0 1,0 0,0 1,0 0,-1 1,19 9,83 49,-25-12,64 34,20 9,-78-39,-70-38,1-1,42 17,535 193,-320-117,-155-56,47 15,-16-14,74 22,-145-50,33 9,-42-18,1-3,1-3,96-2,123-7,129-3,-177-32,-172 20,126-7,-65 12,-88 4,1 2,76 6,-109 1,-1 1,0 1,0 0,0 2,32 16,-23-10,41 14,-48-20,-1 1,0 0,-1 2,0 0,-1 2,21 16,-4 1,-2 1,32 36,20 44,-2-5,-69-88,18 31,-20-30,27 33,81 96,-110-133,-4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5:30.730"/>
    </inkml:context>
    <inkml:brush xml:id="br0">
      <inkml:brushProperty name="width" value="0.3" units="cm"/>
      <inkml:brushProperty name="height" value="0.6" units="cm"/>
      <inkml:brushProperty name="color" value="#77CEEF"/>
      <inkml:brushProperty name="tip" value="rectangle"/>
      <inkml:brushProperty name="rasterOp" value="maskPen"/>
      <inkml:brushProperty name="ignorePressure" value="1"/>
    </inkml:brush>
  </inkml:definitions>
  <inkml:trace contextRef="#ctx0" brushRef="#br0">889 1,'-40'34,"32"-29,1 0,0 1,0 1,0-1,1 1,0 0,0 0,-6 11,-219 344,218-343,2 0,0 1,1 0,1 1,1 0,1 0,0 1,2 0,1 0,-2 23,-8 79,5 194,12-294,0-1,2 0,1 0,1 0,1 0,1-1,1-1,1 0,0 0,23 30,-23-39,0 0,1-1,0 0,1 0,28 16,74 35,-71-40,1-2,1-2,0-2,1-3,1-1,0-2,87 6,-94-15,6 2,-1-3,1-2,49-8,-80 5,0-1,0 0,-1-1,0-1,0 0,-1-1,0-1,16-13,-5 4,-2 2,-2 0,27-27,-39 35,-2 0,1-1,-2 1,1-1,-1-1,-1 1,0-1,5-14,-6 14,10-29,-1-1,-3-1,-1 0,7-83,-18-322,2 436,-1 0,0 0,0 0,-1 0,-1 0,0 1,0-1,-1 1,0 0,-1-1,0 2,-1-1,0 1,-1 0,0 0,0 1,0-1,-10-7,-25-29,30 31,0 0,-1 1,-1 1,-16-13,-63-31,-2 4,-138-53,202 91,8 7,1 0,-1 2,-1 1,1 0,0 2,-26 0,0-1,22 2,0 1,0 1,0 1,1 1,-1 2,1 0,0 2,0 1,1 1,0 1,1 1,0 2,-37 24,40-21,-36 34,9-7,8-8,1 2,3 1,1 2,1 1,3 2,-27 47,19-31,27-43,0 1,1 1,1-1,1 1,1 1,-9 26,-5 35,12-48,1 1,-8 62,10-21,2-25,1 0,2 1,8 77,-5-123,0 0,-1 0,2 0,-1 0,0 0,1-1,-1 1,3 4,7 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5:32.176"/>
    </inkml:context>
    <inkml:brush xml:id="br0">
      <inkml:brushProperty name="width" value="0.3" units="cm"/>
      <inkml:brushProperty name="height" value="0.6" units="cm"/>
      <inkml:brushProperty name="color" value="#77CE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1,'3'2,"0"1,-1 0,1 0,-1 0,0 0,0 0,0 0,0 1,0-1,1 6,-1-4,27 60,27 50,-47-101,0 0,0 0,2-1,-1-1,25 22,-14-16,2-1,-1-1,2-1,0-2,1 0,1-1,-1-1,37 9,-15-8,0-1,1-3,96 5,-118-13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9:34.9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1,'0'27,"-1"-4,1 0,1 0,1 0,1 0,11 44,2-11,7 17,51 121,30 67,-70-181,-16-37,26 47,-21-51,63 119,-74-133,-2 1,0 0,-2 1,7 40,1 19,-7-47,-3 0,3 51,-1 92,0 62,-8 630,1-842,3 1,1-2,17 62,-12-54,-1 0,3 41,-8-4,-4-48,2 0,0 0,2 0,15 54,-13-65,-1 0,-1 0,3 23,-5-22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0T18:29:36.3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70,'1049'0,"-1038"-1,0 0,0-1,-1 0,1-1,12-4,-11 2,1 2,0 0,15-2,229 2,-133 5,-81-2,0-2,57-9,-33 1,105-4,72 16,-87 0,251-2,-384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8:35:36.29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16.52136"/>
      <inkml:brushProperty name="anchorY" value="-1230.89136"/>
      <inkml:brushProperty name="scaleFactor" value="0.5"/>
    </inkml:brush>
  </inkml:definitions>
  <inkml:trace contextRef="#ctx0" brushRef="#br0">1039 470 24575,'0'0'0,"0"5"0,0 7 0,0 5 0,0 2 0,0 5 0,0 0 0,0-1 0,-4-4 0,1 1 0,-4-2 0,-3 4 0,1-1 0,-5 3 0,-2 0 0,-4-6 0,2 0 0,0-5 0,-3-5 0,1-2 0,0 3 0,-2-2 0,0 0 0,-3-2 0,2-2 0,-3-1 0,5 2 0,-5 0 0,-5 6 0,-6-1 0,-2-1 0,3-1 0,-2 1 0,0-2 0,5-1 0,4-1 0,1-2 0,4-1 0,-2-1 0,3 0 0,1 0 0,-1-4 0,4-6 0,2-1 0,-3-2 0,1-5 0,-4-1 0,1-1 0,4-3 0,1 4 0,-2-6 0,4 1 0,3-3 0,0 2 0,4-2 0,2 2 0,-4-1 0,1 1 0,1 2 0,2-1 0,3 1 0,1-1 0,1 1 0,4-3 0,1 2 0,3 2 0,-1-2 0,0 1 0,2 5 0,-2-2 0,6 1 0,2 4 0,-2 1 0,5 3 0,-3-3 0,1 2 0,-3 0 0,3 2 0,-3-5 0,2 4 0,-1 1 0,-1 0 0,3 2 0,1 2 0,4-4 0,1 1 0,6-2 0,4-5 0,5 1 0,-2 4 0,-2 2 0,-1 0 0,-4 3 0,0-3 0,-3 3 0,2 1 0,-2 2 0,-2 0 0,2 2 0,-2 1 0,6 0 0,2 0 0,-1 1 0,11-1 0,-3 0 0,2 0 0,-5 0 0,-1 0 0,-5 4 0,-3-1 0,-1 7 0,-1 3 0,1 9 0,6 6 0,1 10 0,3 6 0,-6-3 0,-3 0 0,-7-6 0,-6-1 0,-5-6 0,-4-4 0,-2 1 0,-2-3 0,0 2 0,0-2 0,0 7 0,0 1 0,-6-1 0,-1 1 0,-2-2 0,1-4 0,-5-5 0,1 1 0,3-2 0,0-4 0,1 3 0,-4-3 0,3 0 0,0 3 0,0 1 0,3 1 0,-2-4 0,1-3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8:35:37.8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77.19434"/>
      <inkml:brushProperty name="anchorY" value="-2603.7146"/>
      <inkml:brushProperty name="scaleFactor" value="0.5"/>
    </inkml:brush>
  </inkml:definitions>
  <inkml:trace contextRef="#ctx0" brushRef="#br0">1 1 24575,'0'0'0,"5"0"0,7 0 0,1 3 0,6 7 0,2 4 0,7 6 0,2 8 0,10 4 0,-5-1 0,3 1 0,-4-2 0,3-1 0,-2-6 0,4-2 0,-4-1 0,3-3 0,-7-2 0,1-3 0,14 9 0,4 5 0,0-3 0,1-4 0,-7-2 0,0 2 0,-3-4 0,0-3 0,-5-1 0,-1 4 0,1-3 0,3 2 0,4-3 0,-1-3 0,-5-2 0,2 3 0,5 6 0,-4-1 0,15 2 0,2-3 0,9-4 0,-1-2 0,8-4 0,-2-1 0,3 5 0,-1 0 0,-5 6 0,-4-2 0,-2 3 0,-3-3 0,3-2 0,2 3 0,4-1 0,5-3 0,1-1 0,-4-3 0,2-2 0,-11-1 0,-5-1 0,-1 6 0,5 0 0,-1 1 0,8-2 0,0-1 0,4-2 0,6-1 0,-9 0 0,9-1 0,1 0 0,-10 0 0,-6-1 0,-8 1 0,-5 0 0,-9 0 0,-4 0 0,0-4 0,9 1 0,14-4 0,9 1 0,18-6 0,-1 1 0,3-5 0,-4 1 0,-7-3 0,-15 0 0,-8 2 0,-1 4 0,4-3 0,-1 4 0,10-5 0,-7 2 0,-6 4 0,-2-4 0,-10 2 0,0-1 0,3-3 0,9-6 0,2 4 0,-3-1 0,8 5 0,-9-3 0,0 3 0,-6 0 0,-7 0 0,0 3 0,-5-4 0,-2 3 0,2-1 0,5-5 0,6 4 0,-2-5 0,-4 4 0,-3 2 0,-6 2 0,0 2 0,3-1 0,4 3 0,4-5 0,1 2 0,3-6 0,-4 3 0,-3-2 0,-5 4 0,-2 2 0,-7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8:35:39.41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363.88184"/>
      <inkml:brushProperty name="anchorY" value="-3772.79761"/>
      <inkml:brushProperty name="scaleFactor" value="0.5"/>
    </inkml:brush>
  </inkml:definitions>
  <inkml:trace contextRef="#ctx0" brushRef="#br0">1 35 24575,'0'0'0,"3"0"0,4-7 0,3 0 0,7 1 0,1 0 0,5 2 0,1 1 0,2 2 0,-1 0 0,-2 1 0,2 0 0,-2 1 0,2-1 0,-1 0 0,2 1 0,-5 2 0,-2 0 0,-2 1 0,3-1 0,-1-1 0,-3 2 0,3 0 0,-4 7 0,-4 2 0,-3 2 0,-4 6 0,-1 0 0,-3 4 0,-3-1 0,-1 2 0,-4-1 0,1-2 0,-5 1 0,0-1 0,-1 2 0,-4 6 0,-2-2 0,0 1 0,3-1 0,-2-4 0,0 1 0,3-3 0,-3 3 0,0-3 0,4 2 0,-4-4 0,4-2 0,-1-6 0,4 0 0,3-3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43:06.85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913.43359"/>
      <inkml:brushProperty name="anchorY" value="-1236.5835"/>
      <inkml:brushProperty name="scaleFactor" value="0.5"/>
    </inkml:brush>
  </inkml:definitions>
  <inkml:trace contextRef="#ctx0" brushRef="#br0">2481 1210 24575,'0'0'0,"-4"0"0,-5 0 0,0 4 0,-3 4 0,-7 9 0,-2 0 0,-7 2 0,0 5 0,-4-3 0,1-4 0,-7-1 0,-2 4 0,-7-3 0,3 1 0,-4 5 0,1-4 0,5 1 0,4-5 0,2-4 0,5 5 0,-2-3 0,4-3 0,-3 2 0,2-3 0,2-2 0,-2 2 0,2-2 0,-3-2 0,1-1 0,2-2 0,6 8 0,-2-1 0,-7 0 0,-9-3 0,-8-1 0,-11-2 0,-5-1 0,5-2 0,4 0 0,1 0 0,-1 0 0,-3-5 0,4 0 0,6 1 0,-1-4 0,2 1 0,-3 1 0,6 2 0,5 1 0,2 1 0,4 1 0,0-7 0,2-1 0,0-3 0,1 1 0,2 1 0,6-5 0,-2 2 0,2-2 0,-5-6 0,1-1 0,4-2 0,-3 4 0,1-4 0,5 1 0,0-4 0,-3 0 0,-1-4 0,-4 1 0,-1-7 0,5-7 0,6-6 0,-3-2 0,0-4 0,4 6 0,4 2 0,3-1 0,5-2 0,1 0 0,3 6 0,0 5 0,1-1 0,-1 0 0,1 4 0,0 0 0,-1 3 0,0 0 0,0 2 0,9 4 0,-1-3 0,5 7 0,-1 2 0,2 5 0,-3-2 0,6-1 0,2-1 0,6-4 0,1 3 0,5 1 0,-1-4 0,-1 4 0,2 1 0,-1-4 0,2 4 0,-2 4 0,2 1 0,-1 4 0,-3 4 0,3 2 0,-2 3 0,2 1 0,-1 1 0,2 0 0,-1 1 0,-3-1 0,3 1 0,-3-1 0,4 0 0,6 1 0,-1-1 0,-3 0 0,2 0 0,-4 0 0,2 0 0,-3 0 0,2 0 0,-3 0 0,-2-1 0,3 1 0,-3 0 0,3 0 0,-1 0 0,2 0 0,-1 1 0,-3-1 0,3 0 0,-3 0 0,4 0 0,-2 0 0,2 0 0,-2 0 0,-5 8 0,-4 1 0,4-1 0,-2 3 0,5 7 0,-1 3 0,0 6 0,3-4 0,-5 1 0,-2-6 0,2-1 0,-4 4 0,-1-4 0,3 2 0,1 3 0,-4 2 0,3 8 0,1 5 0,3 8 0,0-3 0,4 6 0,-5 8 0,-2 4 0,2-5 0,-4 2 0,-2-5 0,-4-6 0,-5-3 0,-5-7 0,-2-5 0,-3 0 0,-1-2 0,-1 1 0,1-1 0,-1 2 0,0-1 0,1-2 0,-1 2 0,1-1 0,0 2 0,0-1 0,0 2 0,0-2 0,-8-1 0,-1 2 0,1-3 0,1-5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43:11.41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546.72656"/>
      <inkml:brushProperty name="anchorY" value="-443.55954"/>
      <inkml:brushProperty name="scaleFactor" value="0.5"/>
    </inkml:brush>
  </inkml:definitions>
  <inkml:trace contextRef="#ctx0" brushRef="#br0">1484 1314 24575,'0'0'0,"-7"8"0,-7 2 0,-16 36 0,-3 13 0,-15 15 0,-2 5 0,2 4 0,2-11 0,5-8 0,11-12 0,0-15 0,9-5 0,1-10 0,-2-8 0,0-7 0,0-3 0,-5-3 0,1-7 0,-9-12 0,-20-18 0,-12-12 0,2-5 0,7 3 0,5 1 0,10 7 0,3 2 0,7-3 0,-1 4 0,4 0 0,-1 4 0,2-5 0,6 4 0,2-2 0,-3-4 0,5 2 0,0-1 0,5 5 0,-5 8 0,-1-4 0,4-2 0,3 2 0,-5 5 0,4-4 0,-1-3 0,2-8 0,-4 2 0,2-5 0,-2-9 0,4 3 0,3 5 0,3 3 0,-5 6 0,2 1 0,1 4 0,2-1 0,2 3 0,3 3 0,0-3 0,2-6 0,0 0 0,5-2 0,0 3 0,4-1 0,-1 3 0,3 8 0,7 6 0,3 4 0,19-4 0,18 3 0,21-5 0,6 4 0,-3 3 0,1 0 0,7 3 0,-3 3 0,-5 4 0,0-7 0,-5 1 0,-13 1 0,5 3 0,-11 1 0,0 2 0,3 2 0,1 1 0,9 4 0,-2 1 0,-9-1 0,-2 4 0,4 8 0,-9-1 0,-11 2 0,-4-2 0,-7 8 0,8 6 0,-2 6 0,6 8 0,1 7 0,-7 2 0,-5 4 0,0-6 0,-4-3 0,-6-6 0,-6-6 0,-7 2 0,-3 1 0,4-2 0,-1 13 0,-2 6 0,-1 9 0,-2-4 0,-1 1 0,-2-9 0,-5-4 0,-5-8 0,0-2 0,-8-5 0,-2 0 0,-7 5 0,-1-2 0,0-2 0,-4 1 0,2-4 0,-4-6 0,3 1 0,1-6 0,7-1 0,-3-5 0,6 4 0,1-3 0,-4-4 0,0 2 0,-6-4 0,1-2 0,4 2 0,1-2 0,-2-2 0,4-1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19:03.60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553.80762"/>
      <inkml:brushProperty name="anchorY" value="-5397.54443"/>
      <inkml:brushProperty name="scaleFactor" value="0.5"/>
    </inkml:brush>
  </inkml:definitions>
  <inkml:trace contextRef="#ctx0" brushRef="#br0">3411 1507 24575,'0'0'0,"0"3"0,0 10 0,0 5 0,0 7 0,-4-2 0,-1 0 0,-12 3 0,-4 9 0,-16-5 0,-9 4 0,-10 1 0,-9-2 0,-3 2 0,2-3 0,1 1 0,1-5 0,9-8 0,0-7 0,-12-5 0,-2 4 0,-10-2 0,4-2 0,1 2 0,-17-2 0,-7 7 0,-7-2 0,-7 6 0,-1-1 0,7-4 0,7-3 0,10-5 0,9-2 0,6-2 0,-6-2 0,3 0 0,10-1 0,3 0 0,3 0 0,5-3 0,9-1 0,4-4 0,7 1 0,5-3 0,0 1 0,-5-6 0,-12-11 0,3-7 0,-7-9 0,-7-4 0,-3-5 0,1-1 0,8 10 0,9 7 0,3 2 0,7 5 0,1 2 0,3-1 0,7 1 0,-1-6 0,1-13 0,-4-7 0,5-3 0,-4-3 0,1 7 0,5 3 0,4 7 0,6 3 0,-4-4 0,3 5 0,2 0 0,2 3 0,3 3 0,2 1 0,1 1 0,5-1 0,13-15 0,18-16 0,25-19 0,1 3 0,14-3 0,2 3 0,12 8 0,11-1 0,-3 11 0,-5 7 0,5 14 0,-19 4 0,-7 6 0,-15 7 0,-4 8 0,-5-2 0,2 3 0,2 4 0,3 2 0,12 3 0,16 2 0,-7 2 0,8 0 0,5 0 0,-6 1 0,3 0 0,-12-1 0,-5 0 0,-4 1 0,-6 3 0,-2 4 0,1 9 0,1 0 0,5 15 0,2 1 0,6 13 0,8 3 0,-4-2 0,-2 11 0,10 7 0,-11-4 0,-2 9 0,9 12 0,2 5 0,3 8 0,-10-16 0,-9-6 0,-18-11 0,-10-11 0,-13-8 0,-10-7 0,-4-6 0,5-1 0,-3-2 0,-2 6 0,1 4 0,-2-2 0,-2 3 0,6-4 0,-1 5 0,-2-2 0,-2 1 0,-3 5 0,-2 5 0,-2 6 0,-5 8 0,-9 3 0,-1-6 0,-3-4 0,3-13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19:19:05.89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36.4541"/>
      <inkml:brushProperty name="anchorY" value="-6830.65332"/>
      <inkml:brushProperty name="scaleFactor" value="0.5"/>
    </inkml:brush>
  </inkml:definitions>
  <inkml:trace contextRef="#ctx0" brushRef="#br0">2881 1527 24575,'0'0'0,"0"3"0,0 11 0,0 11 0,0 5 0,0 2 0,-4 2 0,0-1 0,-1 2 0,-3-3 0,1-2 0,-7 1 0,-4-3 0,-10-5 0,-15 11 0,-10-6 0,-15 12 0,-9-1 0,-11 1 0,6-7 0,-6 1 0,-4 0 0,-8-3 0,4-6 0,-2 1 0,11-6 0,15-6 0,8-4 0,5-5 0,2-2 0,-5-3 0,-9 0 0,6-1 0,-8 0 0,5 0 0,1 0 0,2 1 0,1-1 0,-4 1 0,0-8 0,9-1 0,6 1 0,8 1 0,13-7 0,3 2 0,4 2 0,6-2 0,2-2 0,-3 2 0,-1-6 0,-5-1 0,-1-6 0,-8-10 0,-4-9 0,6-4 0,-2-5 0,-4 0 0,6-3 0,-1-2 0,-1-23 0,2-3 0,-1-13 0,7 3 0,-2-17 0,-1 7 0,4 6 0,7 9 0,6 14 0,5 15 0,0 10 0,2 11 0,2 4 0,2-4 0,0 4 0,2-5 0,0 2 0,0-1 0,9 4 0,0-1 0,4 8 0,-1 3 0,-3-2 0,11 2 0,6-11 0,2 3 0,14-6 0,-1 2 0,6-2 0,1 4 0,5-1 0,-6 8 0,-1 7 0,-11 4 0,3 4 0,33 6 0,7-6 0,14 2 0,12 2 0,14 3 0,-6 1 0,4 3 0,-19 1 0,-3 0 0,-1 2 0,6-1 0,-7 1 0,-5 3 0,-7 1 0,-10 0 0,-6-1 0,-11 3 0,-6-1 0,-9 7 0,-2 0 0,4 2 0,-4-2 0,6 6 0,9 1 0,6 5 0,-4 6 0,2-4 0,-11-1 0,-3-6 0,-7-7 0,0 0 0,-8 5 0,-3 0 0,1-1 0,0 9 0,4-4 0,-1 14 0,4-1 0,-5 8 0,-2 7 0,2 0 0,-5-4 0,-5-1 0,0-7 0,-5 0 0,-4-5 0,6-4 0,-2 1 0,-1 6 0,-3-1 0,-3 3 0,-1 5 0,-2 6 0,-1 5 0,0 13 0,0 7 0,-1 2 0,-3 8 0,-10 3 0,-7-4 0,-9 9 0,-10-4 0,4-9 0,-1-6 0,-6 4 0,-1 0 0,-1 8 0,5-7 0,0-3 0,9-13 0,8-16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48351-AC5B-4E2A-8450-510C8650291F}" type="datetimeFigureOut">
              <a:rPr lang="ko-KR" altLang="en-US" smtClean="0"/>
              <a:t>2025-06-11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FD9A8-66B0-4D0B-A093-EA8601E72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75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FD9A8-66B0-4D0B-A093-EA8601E72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318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7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66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03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12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97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77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8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15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57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none" spc="100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8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kern="1200" spc="1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4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b="0" i="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18" Type="http://schemas.openxmlformats.org/officeDocument/2006/relationships/image" Target="../media/image16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17" Type="http://schemas.openxmlformats.org/officeDocument/2006/relationships/customXml" Target="../ink/ink8.xml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2.png"/><Relationship Id="rId19" Type="http://schemas.openxmlformats.org/officeDocument/2006/relationships/customXml" Target="../ink/ink9.xml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4.xml"/><Relationship Id="rId10" Type="http://schemas.openxmlformats.org/officeDocument/2006/relationships/image" Target="../media/image24.png"/><Relationship Id="rId4" Type="http://schemas.openxmlformats.org/officeDocument/2006/relationships/image" Target="../media/image120.png"/><Relationship Id="rId9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8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20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image" Target="../media/image46.png"/><Relationship Id="rId4" Type="http://schemas.openxmlformats.org/officeDocument/2006/relationships/customXml" Target="../ink/ink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62.png"/><Relationship Id="rId4" Type="http://schemas.openxmlformats.org/officeDocument/2006/relationships/customXml" Target="../ink/ink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다각형 배경을 형성하는 연결된 막대들">
            <a:extLst>
              <a:ext uri="{FF2B5EF4-FFF2-40B4-BE49-F238E27FC236}">
                <a16:creationId xmlns:a16="http://schemas.microsoft.com/office/drawing/2014/main" id="{77D918EE-1E27-8F8C-B546-5CD214514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16" b="5715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36A7FB-F88D-E063-43DF-B511F7E1E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ko-KR" altLang="en-US" sz="3600">
                <a:solidFill>
                  <a:schemeClr val="tx1"/>
                </a:solidFill>
              </a:rPr>
              <a:t>온라인 쇼핑몰 관리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7B560E-66A5-396F-5148-98C330C41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10" y="4608576"/>
            <a:ext cx="3205640" cy="774186"/>
          </a:xfrm>
        </p:spPr>
        <p:txBody>
          <a:bodyPr anchor="t">
            <a:normAutofit/>
          </a:bodyPr>
          <a:lstStyle/>
          <a:p>
            <a:r>
              <a:rPr lang="ko-KR" altLang="en-US" sz="2000"/>
              <a:t>이규민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!!footer rectangle">
            <a:extLst>
              <a:ext uri="{FF2B5EF4-FFF2-40B4-BE49-F238E27FC236}">
                <a16:creationId xmlns:a16="http://schemas.microsoft.com/office/drawing/2014/main" id="{E239D8CC-16F4-4B2B-80F0-203C56D0D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788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7164B-088D-7B9C-2199-B105B7E9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792F5-9F01-F644-FDC8-9124D3F35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6761"/>
            <a:ext cx="10058400" cy="4155439"/>
          </a:xfrm>
        </p:spPr>
        <p:txBody>
          <a:bodyPr/>
          <a:lstStyle/>
          <a:p>
            <a:r>
              <a:rPr lang="ko-KR" altLang="en-US" sz="1600"/>
              <a:t>－　주제선정</a:t>
            </a:r>
            <a:endParaRPr lang="en-US" altLang="ko-KR" sz="1600"/>
          </a:p>
          <a:p>
            <a:r>
              <a:rPr lang="ko-KR" altLang="en-US" sz="1600"/>
              <a:t>－　요구사항분석</a:t>
            </a:r>
            <a:endParaRPr lang="en-US" altLang="ko-KR" sz="1600"/>
          </a:p>
          <a:p>
            <a:r>
              <a:rPr lang="ko-KR" altLang="en-US" sz="1600"/>
              <a:t>－　ＥＲ다이어그램</a:t>
            </a:r>
            <a:endParaRPr lang="en-US" altLang="ko-KR" sz="1600"/>
          </a:p>
          <a:p>
            <a:r>
              <a:rPr lang="ko-KR" altLang="en-US" sz="1600"/>
              <a:t>－　스키마　매핑</a:t>
            </a:r>
            <a:endParaRPr lang="en-US" altLang="ko-KR" sz="1600"/>
          </a:p>
          <a:p>
            <a:r>
              <a:rPr lang="ko-KR" altLang="en-US" sz="1600"/>
              <a:t>－　정규화</a:t>
            </a:r>
            <a:endParaRPr lang="en-US" altLang="ko-KR" sz="1600"/>
          </a:p>
          <a:p>
            <a:r>
              <a:rPr lang="ko-KR" altLang="en-US" sz="1600"/>
              <a:t>－　최종　ＤＢ　Ｓｃｈｅｍａ</a:t>
            </a:r>
            <a:endParaRPr lang="en-US" altLang="ko-KR" sz="1600"/>
          </a:p>
          <a:p>
            <a:r>
              <a:rPr lang="ko-KR" altLang="en-US" sz="1600"/>
              <a:t>－　외래키　관련　조건</a:t>
            </a:r>
            <a:endParaRPr lang="en-US" altLang="ko-KR" sz="1600"/>
          </a:p>
          <a:p>
            <a:r>
              <a:rPr lang="ko-KR" altLang="en-US" sz="1600"/>
              <a:t>－　프로그램</a:t>
            </a:r>
          </a:p>
        </p:txBody>
      </p:sp>
    </p:spTree>
    <p:extLst>
      <p:ext uri="{BB962C8B-B14F-4D97-AF65-F5344CB8AC3E}">
        <p14:creationId xmlns:p14="http://schemas.microsoft.com/office/powerpoint/2010/main" val="410497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DD254-3147-D619-341E-1CE5625F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주제선정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DD60C-43CF-C959-7D91-44CA58987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온라인 쇼핑몰 관리 시스템</a:t>
            </a:r>
            <a:endParaRPr lang="en-US" altLang="ko-KR"/>
          </a:p>
          <a:p>
            <a:r>
              <a:rPr lang="en-US" altLang="ko-KR"/>
              <a:t>- Coupang, Gmarket </a:t>
            </a:r>
            <a:r>
              <a:rPr lang="ko-KR" altLang="en-US"/>
              <a:t>등의 사례를 참고</a:t>
            </a:r>
            <a:endParaRPr lang="en-US" altLang="ko-KR"/>
          </a:p>
          <a:p>
            <a:r>
              <a:rPr lang="en-US" altLang="ko-KR"/>
              <a:t>- </a:t>
            </a:r>
            <a:r>
              <a:rPr lang="ko-KR" altLang="en-US"/>
              <a:t>주문</a:t>
            </a:r>
            <a:r>
              <a:rPr lang="en-US" altLang="ko-KR"/>
              <a:t>, </a:t>
            </a:r>
            <a:r>
              <a:rPr lang="ko-KR" altLang="en-US"/>
              <a:t>배송</a:t>
            </a:r>
            <a:r>
              <a:rPr lang="en-US" altLang="ko-KR"/>
              <a:t>, </a:t>
            </a:r>
            <a:r>
              <a:rPr lang="ko-KR" altLang="en-US"/>
              <a:t>리뷰</a:t>
            </a:r>
            <a:r>
              <a:rPr lang="en-US" altLang="ko-KR"/>
              <a:t>, </a:t>
            </a:r>
            <a:r>
              <a:rPr lang="ko-KR" altLang="en-US"/>
              <a:t>카테고리 등을 지원하는 데이터베이스 시스템 설계</a:t>
            </a:r>
            <a:endParaRPr lang="en-US" altLang="ko-KR"/>
          </a:p>
          <a:p>
            <a:r>
              <a:rPr lang="en-US" altLang="ko-KR"/>
              <a:t>- </a:t>
            </a:r>
            <a:r>
              <a:rPr lang="ko-KR" altLang="ko-KR"/>
              <a:t>전자제품으로 범위를 좁혀 전자제품을 취급하는 온라인 쇼핑몰로 만들었</a:t>
            </a:r>
            <a:r>
              <a:rPr lang="ko-KR" altLang="en-US"/>
              <a:t>음</a:t>
            </a:r>
            <a:endParaRPr lang="en-US" altLang="ko-KR"/>
          </a:p>
          <a:p>
            <a:r>
              <a:rPr lang="en-US" altLang="ko-KR"/>
              <a:t>- </a:t>
            </a:r>
            <a:r>
              <a:rPr lang="ko-KR" altLang="ko-KR"/>
              <a:t>원한다면 모든 상품을 취급하는 쇼핑몰로 확장이 가능하게 설계함</a:t>
            </a:r>
            <a:r>
              <a:rPr lang="en-US" altLang="ko-KR"/>
              <a:t>.</a:t>
            </a:r>
            <a:endParaRPr lang="ko-KR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475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B3BB7-CF05-E317-08E5-7BB19A60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BD503-B358-42FF-C619-756246438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95" y="1951183"/>
            <a:ext cx="4695924" cy="3760891"/>
          </a:xfrm>
        </p:spPr>
        <p:txBody>
          <a:bodyPr/>
          <a:lstStyle/>
          <a:p>
            <a:r>
              <a:rPr lang="ko-KR" altLang="en-US"/>
              <a:t>사용자 정보 관리 기능</a:t>
            </a:r>
            <a:endParaRPr lang="en-US" altLang="ko-KR"/>
          </a:p>
          <a:p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446C628-BC43-47C3-F042-75E29EC7D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2428"/>
              </p:ext>
            </p:extLst>
          </p:nvPr>
        </p:nvGraphicFramePr>
        <p:xfrm>
          <a:off x="267854" y="2525314"/>
          <a:ext cx="6382325" cy="319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465">
                  <a:extLst>
                    <a:ext uri="{9D8B030D-6E8A-4147-A177-3AD203B41FA5}">
                      <a16:colId xmlns:a16="http://schemas.microsoft.com/office/drawing/2014/main" val="617170363"/>
                    </a:ext>
                  </a:extLst>
                </a:gridCol>
                <a:gridCol w="1276465">
                  <a:extLst>
                    <a:ext uri="{9D8B030D-6E8A-4147-A177-3AD203B41FA5}">
                      <a16:colId xmlns:a16="http://schemas.microsoft.com/office/drawing/2014/main" val="1516563283"/>
                    </a:ext>
                  </a:extLst>
                </a:gridCol>
                <a:gridCol w="1276465">
                  <a:extLst>
                    <a:ext uri="{9D8B030D-6E8A-4147-A177-3AD203B41FA5}">
                      <a16:colId xmlns:a16="http://schemas.microsoft.com/office/drawing/2014/main" val="2662565009"/>
                    </a:ext>
                  </a:extLst>
                </a:gridCol>
                <a:gridCol w="1490751">
                  <a:extLst>
                    <a:ext uri="{9D8B030D-6E8A-4147-A177-3AD203B41FA5}">
                      <a16:colId xmlns:a16="http://schemas.microsoft.com/office/drawing/2014/main" val="2237762785"/>
                    </a:ext>
                  </a:extLst>
                </a:gridCol>
                <a:gridCol w="1062179">
                  <a:extLst>
                    <a:ext uri="{9D8B030D-6E8A-4147-A177-3AD203B41FA5}">
                      <a16:colId xmlns:a16="http://schemas.microsoft.com/office/drawing/2014/main" val="418900621"/>
                    </a:ext>
                  </a:extLst>
                </a:gridCol>
              </a:tblGrid>
              <a:tr h="6393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엔티티 </a:t>
                      </a:r>
                      <a:r>
                        <a:rPr lang="en-US" altLang="ko-KR" sz="1400"/>
                        <a:t>(Users)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제한조건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85152"/>
                  </a:ext>
                </a:extLst>
              </a:tr>
              <a:tr h="391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사용자번호</a:t>
                      </a:r>
                      <a:endParaRPr lang="en-US" altLang="ko-KR" sz="14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UserNo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 정수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80778"/>
                  </a:ext>
                </a:extLst>
              </a:tr>
              <a:tr h="517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사용자명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UserName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</a:t>
                      </a:r>
                      <a:r>
                        <a:rPr lang="ko-KR" altLang="en-US" sz="1400"/>
                        <a:t>자 이하 영문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87239"/>
                  </a:ext>
                </a:extLst>
              </a:tr>
              <a:tr h="547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핸드폰번호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(optional)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PhoneNo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010-XXXX-XXXX 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형식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O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67990"/>
                  </a:ext>
                </a:extLst>
              </a:tr>
              <a:tr h="547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잔액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주문 시 차감</a:t>
                      </a:r>
                      <a:endParaRPr lang="en-US" altLang="ko-KR" sz="1400"/>
                    </a:p>
                    <a:p>
                      <a:pPr latinLnBrk="1"/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초기값 </a:t>
                      </a:r>
                      <a:r>
                        <a:rPr lang="en-US" altLang="ko-KR" sz="1400"/>
                        <a:t>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Balance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~ 10,000,000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72057"/>
                  </a:ext>
                </a:extLst>
              </a:tr>
              <a:tr h="547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ID, PW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사용자 번호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ID, PW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 이하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숫자 조합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3050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B8B9D78-3DD5-91D9-DDD3-1097B59EE840}"/>
              </a:ext>
            </a:extLst>
          </p:cNvPr>
          <p:cNvSpPr txBox="1"/>
          <p:nvPr/>
        </p:nvSpPr>
        <p:spPr>
          <a:xfrm flipH="1">
            <a:off x="6373091" y="2628781"/>
            <a:ext cx="45262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사용자의 정보로는 </a:t>
            </a:r>
            <a:r>
              <a:rPr lang="en-US" altLang="ko-KR" sz="1400"/>
              <a:t>(</a:t>
            </a:r>
            <a:r>
              <a:rPr lang="ko-KR" altLang="ko-KR" sz="1400"/>
              <a:t>사용자번호</a:t>
            </a:r>
            <a:r>
              <a:rPr lang="en-US" altLang="ko-KR" sz="1400"/>
              <a:t>, </a:t>
            </a:r>
            <a:r>
              <a:rPr lang="ko-KR" altLang="ko-KR" sz="1400"/>
              <a:t>사용자명</a:t>
            </a:r>
            <a:r>
              <a:rPr lang="en-US" altLang="ko-KR" sz="1400"/>
              <a:t>, </a:t>
            </a:r>
            <a:r>
              <a:rPr lang="ko-KR" altLang="ko-KR" sz="1400"/>
              <a:t>핸드폰번호</a:t>
            </a:r>
            <a:r>
              <a:rPr lang="en-US" altLang="ko-KR" sz="1400"/>
              <a:t>, </a:t>
            </a:r>
            <a:r>
              <a:rPr lang="ko-KR" altLang="ko-KR" sz="1400"/>
              <a:t>잔액</a:t>
            </a:r>
            <a:r>
              <a:rPr lang="en-US" altLang="ko-KR" sz="1400"/>
              <a:t>, ID, PW)</a:t>
            </a:r>
            <a:r>
              <a:rPr lang="ko-KR" altLang="ko-KR" sz="1400"/>
              <a:t>가 포함되어야 함</a:t>
            </a:r>
            <a:r>
              <a:rPr lang="en-US" altLang="ko-KR" sz="140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400"/>
              <a:t>핸드폰 번호는 입력하지 않아도 됨</a:t>
            </a:r>
            <a:r>
              <a:rPr lang="en-US" altLang="ko-KR" sz="140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/>
              <a:t>ID, PW</a:t>
            </a:r>
            <a:r>
              <a:rPr lang="ko-KR" altLang="ko-KR" sz="1400"/>
              <a:t>는 추후 자신의 사용자 번호를 찾는데 활용</a:t>
            </a:r>
            <a:r>
              <a:rPr lang="ko-KR" altLang="en-US" sz="1400"/>
              <a:t>됨</a:t>
            </a:r>
            <a:r>
              <a:rPr lang="en-US" altLang="ko-KR" sz="140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>
                <a:highlight>
                  <a:srgbClr val="FFFF00"/>
                </a:highlight>
              </a:rPr>
              <a:t>ID</a:t>
            </a:r>
            <a:r>
              <a:rPr lang="ko-KR" altLang="en-US" sz="1400">
                <a:highlight>
                  <a:srgbClr val="FFFF00"/>
                </a:highlight>
              </a:rPr>
              <a:t>는 후보키</a:t>
            </a:r>
            <a:r>
              <a:rPr lang="en-US" altLang="ko-KR" sz="1400">
                <a:highlight>
                  <a:srgbClr val="FFFF00"/>
                </a:highlight>
              </a:rPr>
              <a:t>.</a:t>
            </a:r>
            <a:endParaRPr lang="ko-KR" altLang="ko-KR" sz="1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021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81EE-4DB4-0CD5-6D05-499830C5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FE230-10DF-7CD6-CF6F-A7C0B22B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FDEE8-DF3A-CC63-D297-981B9ABA2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953" y="1969656"/>
            <a:ext cx="4695924" cy="3760891"/>
          </a:xfrm>
        </p:spPr>
        <p:txBody>
          <a:bodyPr/>
          <a:lstStyle/>
          <a:p>
            <a:r>
              <a:rPr lang="ko-KR" altLang="en-US"/>
              <a:t>상품 관리 기능</a:t>
            </a:r>
            <a:endParaRPr lang="en-US" altLang="ko-KR"/>
          </a:p>
          <a:p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75DF814-A895-C86C-A568-B068964FE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226225"/>
              </p:ext>
            </p:extLst>
          </p:nvPr>
        </p:nvGraphicFramePr>
        <p:xfrm>
          <a:off x="392462" y="2581871"/>
          <a:ext cx="661794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588">
                  <a:extLst>
                    <a:ext uri="{9D8B030D-6E8A-4147-A177-3AD203B41FA5}">
                      <a16:colId xmlns:a16="http://schemas.microsoft.com/office/drawing/2014/main" val="617170363"/>
                    </a:ext>
                  </a:extLst>
                </a:gridCol>
                <a:gridCol w="1323588">
                  <a:extLst>
                    <a:ext uri="{9D8B030D-6E8A-4147-A177-3AD203B41FA5}">
                      <a16:colId xmlns:a16="http://schemas.microsoft.com/office/drawing/2014/main" val="1516563283"/>
                    </a:ext>
                  </a:extLst>
                </a:gridCol>
                <a:gridCol w="1323588">
                  <a:extLst>
                    <a:ext uri="{9D8B030D-6E8A-4147-A177-3AD203B41FA5}">
                      <a16:colId xmlns:a16="http://schemas.microsoft.com/office/drawing/2014/main" val="2662565009"/>
                    </a:ext>
                  </a:extLst>
                </a:gridCol>
                <a:gridCol w="1323588">
                  <a:extLst>
                    <a:ext uri="{9D8B030D-6E8A-4147-A177-3AD203B41FA5}">
                      <a16:colId xmlns:a16="http://schemas.microsoft.com/office/drawing/2014/main" val="2237762785"/>
                    </a:ext>
                  </a:extLst>
                </a:gridCol>
                <a:gridCol w="1323588">
                  <a:extLst>
                    <a:ext uri="{9D8B030D-6E8A-4147-A177-3AD203B41FA5}">
                      <a16:colId xmlns:a16="http://schemas.microsoft.com/office/drawing/2014/main" val="231571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엔티티 </a:t>
                      </a:r>
                      <a:r>
                        <a:rPr lang="en-US" altLang="ko-KR" sz="1400"/>
                        <a:t>(Items)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제한조건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상품번호</a:t>
                      </a:r>
                      <a:endParaRPr lang="en-US" altLang="ko-KR" sz="14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배송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ItemNo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 정수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8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none"/>
                        <a:t>상품이름</a:t>
                      </a:r>
                      <a:endParaRPr lang="en-US" altLang="ko-KR" sz="140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ItemName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</a:t>
                      </a:r>
                      <a:r>
                        <a:rPr lang="ko-KR" altLang="en-US" sz="1400"/>
                        <a:t>자 이하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영문 </a:t>
                      </a:r>
                      <a:r>
                        <a:rPr lang="en-US" altLang="ko-KR" sz="1400"/>
                        <a:t>+ </a:t>
                      </a:r>
                      <a:r>
                        <a:rPr lang="ko-KR" altLang="en-US" sz="1400"/>
                        <a:t>숫자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485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구매가능성 판단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ItemStock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 이하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숫자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8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판매중</a:t>
                      </a:r>
                      <a:r>
                        <a:rPr lang="en-US" altLang="ko-KR" sz="1400"/>
                        <a:t>(0)</a:t>
                      </a:r>
                    </a:p>
                    <a:p>
                      <a:pPr latinLnBrk="1"/>
                      <a:r>
                        <a:rPr lang="ko-KR" altLang="en-US" sz="1400"/>
                        <a:t>판매</a:t>
                      </a:r>
                      <a:r>
                        <a:rPr lang="en-US" altLang="ko-KR" sz="1400"/>
                        <a:t>X(1)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ItemStatus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6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ItemPrice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0~10,000,000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720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AAF8BB4-8F36-F4AD-3FF4-9D870FCD7EA7}"/>
              </a:ext>
            </a:extLst>
          </p:cNvPr>
          <p:cNvSpPr txBox="1"/>
          <p:nvPr/>
        </p:nvSpPr>
        <p:spPr>
          <a:xfrm>
            <a:off x="7361381" y="2337263"/>
            <a:ext cx="40196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상품 정보에는</a:t>
            </a:r>
            <a:r>
              <a:rPr lang="en-US" altLang="ko-KR" sz="1400"/>
              <a:t> (</a:t>
            </a:r>
            <a:r>
              <a:rPr lang="ko-KR" altLang="ko-KR" sz="1400"/>
              <a:t>상품번호</a:t>
            </a:r>
            <a:r>
              <a:rPr lang="en-US" altLang="ko-KR" sz="1400"/>
              <a:t>, </a:t>
            </a:r>
            <a:r>
              <a:rPr lang="ko-KR" altLang="ko-KR" sz="1400"/>
              <a:t>상품명</a:t>
            </a:r>
            <a:r>
              <a:rPr lang="en-US" altLang="ko-KR" sz="1400"/>
              <a:t>, </a:t>
            </a:r>
            <a:r>
              <a:rPr lang="ko-KR" altLang="ko-KR" sz="1400"/>
              <a:t>상품개수</a:t>
            </a:r>
            <a:r>
              <a:rPr lang="en-US" altLang="ko-KR" sz="1400"/>
              <a:t>, </a:t>
            </a:r>
            <a:r>
              <a:rPr lang="ko-KR" altLang="ko-KR" sz="1400"/>
              <a:t>상품판매상태</a:t>
            </a:r>
            <a:r>
              <a:rPr lang="en-US" altLang="ko-KR" sz="1400"/>
              <a:t>, </a:t>
            </a:r>
            <a:r>
              <a:rPr lang="ko-KR" altLang="ko-KR" sz="1400"/>
              <a:t>속한카테고리</a:t>
            </a:r>
            <a:r>
              <a:rPr lang="en-US" altLang="ko-KR" sz="1400"/>
              <a:t>, </a:t>
            </a:r>
            <a:r>
              <a:rPr lang="ko-KR" altLang="ko-KR" sz="1400"/>
              <a:t>가격</a:t>
            </a:r>
            <a:r>
              <a:rPr lang="en-US" altLang="ko-KR" sz="1400"/>
              <a:t>)</a:t>
            </a:r>
            <a:r>
              <a:rPr lang="ko-KR" altLang="ko-KR" sz="1400"/>
              <a:t>이 포함되어야함</a:t>
            </a:r>
            <a:r>
              <a:rPr lang="en-US" altLang="ko-KR" sz="140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상품판매상태는</a:t>
            </a:r>
            <a:r>
              <a:rPr lang="en-US" altLang="ko-KR" sz="1400">
                <a:highlight>
                  <a:srgbClr val="FFFF00"/>
                </a:highlight>
              </a:rPr>
              <a:t> (</a:t>
            </a:r>
            <a:r>
              <a:rPr lang="ko-KR" altLang="ko-KR" sz="1400">
                <a:highlight>
                  <a:srgbClr val="FFFF00"/>
                </a:highlight>
              </a:rPr>
              <a:t>구매가능</a:t>
            </a:r>
            <a:r>
              <a:rPr lang="en-US" altLang="ko-KR" sz="1400">
                <a:highlight>
                  <a:srgbClr val="FFFF00"/>
                </a:highlight>
              </a:rPr>
              <a:t>, </a:t>
            </a:r>
            <a:r>
              <a:rPr lang="ko-KR" altLang="ko-KR" sz="1400">
                <a:highlight>
                  <a:srgbClr val="FFFF00"/>
                </a:highlight>
              </a:rPr>
              <a:t>구매불가능</a:t>
            </a:r>
            <a:r>
              <a:rPr lang="en-US" altLang="ko-KR" sz="1400">
                <a:highlight>
                  <a:srgbClr val="FFFF00"/>
                </a:highlight>
              </a:rPr>
              <a:t>) </a:t>
            </a:r>
            <a:r>
              <a:rPr lang="ko-KR" altLang="ko-KR" sz="1400">
                <a:highlight>
                  <a:srgbClr val="FFFF00"/>
                </a:highlight>
              </a:rPr>
              <a:t>둘 중 하나임</a:t>
            </a:r>
            <a:r>
              <a:rPr lang="en-US" altLang="ko-KR" sz="1400">
                <a:highlight>
                  <a:srgbClr val="FFFF00"/>
                </a:highligh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highlight>
                  <a:srgbClr val="FFFF00"/>
                </a:highlight>
              </a:rPr>
              <a:t>카테고리 항목과 연결</a:t>
            </a:r>
            <a:r>
              <a:rPr lang="ko-KR" altLang="en-US" sz="1400"/>
              <a:t>해서 속한 카테고리도 조회할 수 있게 구성해야함</a:t>
            </a:r>
            <a:r>
              <a:rPr lang="en-US" altLang="ko-KR" sz="1400"/>
              <a:t>.</a:t>
            </a:r>
            <a:endParaRPr lang="ko-KR" altLang="ko-KR" sz="1400"/>
          </a:p>
        </p:txBody>
      </p:sp>
    </p:spTree>
    <p:extLst>
      <p:ext uri="{BB962C8B-B14F-4D97-AF65-F5344CB8AC3E}">
        <p14:creationId xmlns:p14="http://schemas.microsoft.com/office/powerpoint/2010/main" val="258548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4414-8797-00AA-6BD4-9F18ECFC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C6030-E0FA-89A2-FBC1-4304F7C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E0435-C7A3-2563-4142-2981CF65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4695924" cy="3760891"/>
          </a:xfrm>
        </p:spPr>
        <p:txBody>
          <a:bodyPr/>
          <a:lstStyle/>
          <a:p>
            <a:r>
              <a:rPr lang="ko-KR" altLang="en-US"/>
              <a:t>주문 관리 기능</a:t>
            </a:r>
            <a:endParaRPr lang="en-US" altLang="ko-KR"/>
          </a:p>
          <a:p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44D872D-D550-5DA8-1B36-A9511CAB3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759336"/>
              </p:ext>
            </p:extLst>
          </p:nvPr>
        </p:nvGraphicFramePr>
        <p:xfrm>
          <a:off x="342705" y="2848589"/>
          <a:ext cx="6519915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983">
                  <a:extLst>
                    <a:ext uri="{9D8B030D-6E8A-4147-A177-3AD203B41FA5}">
                      <a16:colId xmlns:a16="http://schemas.microsoft.com/office/drawing/2014/main" val="617170363"/>
                    </a:ext>
                  </a:extLst>
                </a:gridCol>
                <a:gridCol w="1303983">
                  <a:extLst>
                    <a:ext uri="{9D8B030D-6E8A-4147-A177-3AD203B41FA5}">
                      <a16:colId xmlns:a16="http://schemas.microsoft.com/office/drawing/2014/main" val="1516563283"/>
                    </a:ext>
                  </a:extLst>
                </a:gridCol>
                <a:gridCol w="1303983">
                  <a:extLst>
                    <a:ext uri="{9D8B030D-6E8A-4147-A177-3AD203B41FA5}">
                      <a16:colId xmlns:a16="http://schemas.microsoft.com/office/drawing/2014/main" val="2662565009"/>
                    </a:ext>
                  </a:extLst>
                </a:gridCol>
                <a:gridCol w="1303983">
                  <a:extLst>
                    <a:ext uri="{9D8B030D-6E8A-4147-A177-3AD203B41FA5}">
                      <a16:colId xmlns:a16="http://schemas.microsoft.com/office/drawing/2014/main" val="2237762785"/>
                    </a:ext>
                  </a:extLst>
                </a:gridCol>
                <a:gridCol w="1303983">
                  <a:extLst>
                    <a:ext uri="{9D8B030D-6E8A-4147-A177-3AD203B41FA5}">
                      <a16:colId xmlns:a16="http://schemas.microsoft.com/office/drawing/2014/main" val="231571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엔티티 </a:t>
                      </a:r>
                      <a:r>
                        <a:rPr lang="en-US" altLang="ko-KR" sz="1400"/>
                        <a:t>(Orders)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제한조건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주문번호</a:t>
                      </a:r>
                      <a:endParaRPr lang="en-US" altLang="ko-KR" sz="14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OrderNo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 정수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8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none"/>
                        <a:t>주문날짜</a:t>
                      </a:r>
                      <a:endParaRPr lang="en-US" altLang="ko-KR" sz="140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OrderDate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YYYY-MM-DD 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형식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485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주문당시가격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가격비교용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PriceAtOrder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0~10,000,000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8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주문수량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Quantity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679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7E66F1-D1AF-3F00-9010-FCDC3A6E2339}"/>
              </a:ext>
            </a:extLst>
          </p:cNvPr>
          <p:cNvSpPr txBox="1"/>
          <p:nvPr/>
        </p:nvSpPr>
        <p:spPr>
          <a:xfrm>
            <a:off x="7148945" y="2576946"/>
            <a:ext cx="45063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주문 정보에는</a:t>
            </a:r>
            <a:r>
              <a:rPr lang="en-US" altLang="ko-KR" sz="1400"/>
              <a:t> (</a:t>
            </a:r>
            <a:r>
              <a:rPr lang="ko-KR" altLang="ko-KR" sz="1400"/>
              <a:t>주문번호</a:t>
            </a:r>
            <a:r>
              <a:rPr lang="en-US" altLang="ko-KR" sz="1400"/>
              <a:t>, </a:t>
            </a:r>
            <a:r>
              <a:rPr lang="ko-KR" altLang="ko-KR" sz="1400"/>
              <a:t>주문날짜</a:t>
            </a:r>
            <a:r>
              <a:rPr lang="en-US" altLang="ko-KR" sz="1400"/>
              <a:t>, </a:t>
            </a:r>
            <a:r>
              <a:rPr lang="ko-KR" altLang="ko-KR" sz="1400"/>
              <a:t>주문당시가격</a:t>
            </a:r>
            <a:r>
              <a:rPr lang="en-US" altLang="ko-KR" sz="1400"/>
              <a:t>, </a:t>
            </a:r>
            <a:r>
              <a:rPr lang="ko-KR" altLang="ko-KR" sz="1400"/>
              <a:t>주문한 개수</a:t>
            </a:r>
            <a:r>
              <a:rPr lang="en-US" altLang="ko-KR" sz="1400"/>
              <a:t>, </a:t>
            </a:r>
            <a:r>
              <a:rPr lang="ko-KR" altLang="ko-KR" sz="1400"/>
              <a:t>구매자</a:t>
            </a:r>
            <a:r>
              <a:rPr lang="en-US" altLang="ko-KR" sz="1400"/>
              <a:t>) </a:t>
            </a:r>
            <a:r>
              <a:rPr lang="ko-KR" altLang="ko-KR" sz="1400"/>
              <a:t>가 포함되어야함</a:t>
            </a:r>
            <a:r>
              <a:rPr lang="en-US" altLang="ko-KR" sz="1400"/>
              <a:t>.</a:t>
            </a:r>
            <a:endParaRPr lang="ko-KR" altLang="ko-KR" sz="1400"/>
          </a:p>
          <a:p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>
                <a:highlight>
                  <a:srgbClr val="FFFF00"/>
                </a:highlight>
              </a:rPr>
              <a:t>개별주문으로 처리</a:t>
            </a:r>
            <a:endParaRPr lang="en-US" altLang="ko-KR" sz="1400">
              <a:highlight>
                <a:srgbClr val="FF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주문은 묶어서 할 수 없음</a:t>
            </a:r>
            <a:r>
              <a:rPr lang="en-US" altLang="ko-KR" sz="140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장바구니 기능은 없음</a:t>
            </a:r>
            <a:r>
              <a:rPr lang="en-US" altLang="ko-KR" sz="140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상품에 대해서 따로따로 주문해야함</a:t>
            </a:r>
            <a:r>
              <a:rPr lang="en-US" altLang="ko-KR" sz="140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구매할 상품개수</a:t>
            </a:r>
            <a:r>
              <a:rPr lang="ko-KR" altLang="en-US" sz="1400">
                <a:highlight>
                  <a:srgbClr val="FFFF00"/>
                </a:highlight>
              </a:rPr>
              <a:t>는</a:t>
            </a:r>
            <a:r>
              <a:rPr lang="ko-KR" altLang="ko-KR" sz="1400">
                <a:highlight>
                  <a:srgbClr val="FFFF00"/>
                </a:highlight>
              </a:rPr>
              <a:t> 정할 수 있음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주문취소는 당일주문에 한해서만 가능함</a:t>
            </a:r>
            <a:r>
              <a:rPr lang="en-US" altLang="ko-KR" sz="14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5982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FC65-4017-15BB-1977-87162C4D5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B7EFC-6D61-0913-CA07-4CC7C015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6F238A-FB3C-E008-CFD0-8CEA79A5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4695924" cy="3760891"/>
          </a:xfrm>
        </p:spPr>
        <p:txBody>
          <a:bodyPr/>
          <a:lstStyle/>
          <a:p>
            <a:r>
              <a:rPr lang="ko-KR" altLang="en-US"/>
              <a:t>배송정보 확인 기능</a:t>
            </a:r>
            <a:endParaRPr lang="en-US" altLang="ko-KR"/>
          </a:p>
          <a:p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08AC01A-F9EC-0D97-DE32-27964E07A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12017"/>
              </p:ext>
            </p:extLst>
          </p:nvPr>
        </p:nvGraphicFramePr>
        <p:xfrm>
          <a:off x="232671" y="2866812"/>
          <a:ext cx="7258020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04">
                  <a:extLst>
                    <a:ext uri="{9D8B030D-6E8A-4147-A177-3AD203B41FA5}">
                      <a16:colId xmlns:a16="http://schemas.microsoft.com/office/drawing/2014/main" val="617170363"/>
                    </a:ext>
                  </a:extLst>
                </a:gridCol>
                <a:gridCol w="1622343">
                  <a:extLst>
                    <a:ext uri="{9D8B030D-6E8A-4147-A177-3AD203B41FA5}">
                      <a16:colId xmlns:a16="http://schemas.microsoft.com/office/drawing/2014/main" val="1516563283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2662565009"/>
                    </a:ext>
                  </a:extLst>
                </a:gridCol>
                <a:gridCol w="1708728">
                  <a:extLst>
                    <a:ext uri="{9D8B030D-6E8A-4147-A177-3AD203B41FA5}">
                      <a16:colId xmlns:a16="http://schemas.microsoft.com/office/drawing/2014/main" val="2237762785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231571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엔티티 </a:t>
                      </a:r>
                      <a:r>
                        <a:rPr lang="en-US" altLang="ko-KR" sz="1400"/>
                        <a:t>(Deliveries)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제한조건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배송번호</a:t>
                      </a:r>
                      <a:endParaRPr lang="en-US" altLang="ko-KR" sz="14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배송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DeliveryNo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 정수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8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배송주소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Zipcode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 우편번호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8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배송상태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주문접수</a:t>
                      </a:r>
                      <a:r>
                        <a:rPr lang="en-US" altLang="ko-KR" sz="1200"/>
                        <a:t>(0) - </a:t>
                      </a:r>
                      <a:r>
                        <a:rPr lang="ko-KR" altLang="en-US" sz="1200"/>
                        <a:t>초기값</a:t>
                      </a:r>
                      <a:endParaRPr lang="en-US" altLang="ko-KR" sz="1200"/>
                    </a:p>
                    <a:p>
                      <a:pPr latinLnBrk="1"/>
                      <a:r>
                        <a:rPr lang="ko-KR" altLang="en-US" sz="1200"/>
                        <a:t>상품준비중</a:t>
                      </a:r>
                      <a:r>
                        <a:rPr lang="en-US" altLang="ko-KR" sz="1200"/>
                        <a:t>(1)</a:t>
                      </a:r>
                    </a:p>
                    <a:p>
                      <a:pPr latinLnBrk="1"/>
                      <a:r>
                        <a:rPr lang="ko-KR" altLang="en-US" sz="1200"/>
                        <a:t>배송중</a:t>
                      </a:r>
                      <a:r>
                        <a:rPr lang="en-US" altLang="ko-KR" sz="1200"/>
                        <a:t>(2)</a:t>
                      </a:r>
                    </a:p>
                    <a:p>
                      <a:pPr latinLnBrk="1"/>
                      <a:r>
                        <a:rPr lang="ko-KR" altLang="en-US" sz="1200"/>
                        <a:t>배송완료</a:t>
                      </a:r>
                      <a:r>
                        <a:rPr lang="en-US" altLang="ko-KR" sz="1200"/>
                        <a:t>(3)</a:t>
                      </a:r>
                    </a:p>
                    <a:p>
                      <a:pPr latinLnBrk="1"/>
                      <a:r>
                        <a:rPr lang="ko-KR" altLang="en-US" sz="1200"/>
                        <a:t>배송실패</a:t>
                      </a:r>
                      <a:r>
                        <a:rPr lang="en-US" altLang="ko-KR" sz="1200"/>
                        <a:t>(4)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DeliveryStatus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0~4</a:t>
                      </a:r>
                      <a:endParaRPr lang="ko-KR" altLang="ko-KR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6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배송담당자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Carrier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O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720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67E17C-B776-92E1-C38A-D862390C2140}"/>
              </a:ext>
            </a:extLst>
          </p:cNvPr>
          <p:cNvSpPr txBox="1"/>
          <p:nvPr/>
        </p:nvSpPr>
        <p:spPr>
          <a:xfrm>
            <a:off x="7850909" y="2108201"/>
            <a:ext cx="38700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주문번호를 입력하면 그에 해당하는 배송 정보를 확인할 수 있어야 함</a:t>
            </a:r>
            <a:r>
              <a:rPr lang="en-US" altLang="ko-KR" sz="1400"/>
              <a:t>. (</a:t>
            </a:r>
            <a:r>
              <a:rPr lang="ko-KR" altLang="en-US" sz="1400"/>
              <a:t>전체참여</a:t>
            </a:r>
            <a:r>
              <a:rPr lang="en-US" altLang="ko-KR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배송 정보에는 </a:t>
            </a:r>
            <a:r>
              <a:rPr lang="en-US" altLang="ko-KR" sz="1400"/>
              <a:t>(</a:t>
            </a:r>
            <a:r>
              <a:rPr lang="ko-KR" altLang="ko-KR" sz="1400"/>
              <a:t>배송번호</a:t>
            </a:r>
            <a:r>
              <a:rPr lang="en-US" altLang="ko-KR" sz="1400"/>
              <a:t>, </a:t>
            </a:r>
            <a:r>
              <a:rPr lang="ko-KR" altLang="ko-KR" sz="1400"/>
              <a:t>배송주소</a:t>
            </a:r>
            <a:r>
              <a:rPr lang="en-US" altLang="ko-KR" sz="1400"/>
              <a:t>, </a:t>
            </a:r>
            <a:r>
              <a:rPr lang="ko-KR" altLang="ko-KR" sz="1400"/>
              <a:t>배송상태</a:t>
            </a:r>
            <a:r>
              <a:rPr lang="en-US" altLang="ko-KR" sz="1400"/>
              <a:t>, </a:t>
            </a:r>
            <a:r>
              <a:rPr lang="ko-KR" altLang="ko-KR" sz="1400"/>
              <a:t>배송담당자</a:t>
            </a:r>
            <a:r>
              <a:rPr lang="en-US" altLang="ko-KR" sz="1400"/>
              <a:t>)</a:t>
            </a:r>
            <a:r>
              <a:rPr lang="ko-KR" altLang="ko-KR" sz="1400"/>
              <a:t>가 포함되어야 함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배송</a:t>
            </a:r>
            <a:r>
              <a:rPr lang="en-US" altLang="ko-KR" sz="1400"/>
              <a:t> </a:t>
            </a:r>
            <a:r>
              <a:rPr lang="ko-KR" altLang="ko-KR" sz="1400"/>
              <a:t>상태에는</a:t>
            </a:r>
            <a:r>
              <a:rPr lang="en-US" altLang="ko-KR" sz="1400"/>
              <a:t> (</a:t>
            </a:r>
            <a:r>
              <a:rPr lang="ko-KR" altLang="ko-KR" sz="1400"/>
              <a:t>주문접수</a:t>
            </a:r>
            <a:r>
              <a:rPr lang="en-US" altLang="ko-KR" sz="1400"/>
              <a:t> / </a:t>
            </a:r>
            <a:r>
              <a:rPr lang="ko-KR" altLang="ko-KR" sz="1400"/>
              <a:t>상품준비중</a:t>
            </a:r>
            <a:r>
              <a:rPr lang="en-US" altLang="ko-KR" sz="1400"/>
              <a:t> / </a:t>
            </a:r>
            <a:r>
              <a:rPr lang="ko-KR" altLang="ko-KR" sz="1400"/>
              <a:t>배송중</a:t>
            </a:r>
            <a:r>
              <a:rPr lang="en-US" altLang="ko-KR" sz="1400"/>
              <a:t> / </a:t>
            </a:r>
            <a:r>
              <a:rPr lang="ko-KR" altLang="ko-KR" sz="1400"/>
              <a:t>배송완료</a:t>
            </a:r>
            <a:r>
              <a:rPr lang="en-US" altLang="ko-KR" sz="1400"/>
              <a:t> / </a:t>
            </a:r>
            <a:r>
              <a:rPr lang="ko-KR" altLang="ko-KR" sz="1400"/>
              <a:t>배송실패</a:t>
            </a:r>
            <a:r>
              <a:rPr lang="en-US" altLang="ko-KR" sz="1400"/>
              <a:t>) </a:t>
            </a:r>
            <a:r>
              <a:rPr lang="ko-KR" altLang="ko-KR" sz="1400"/>
              <a:t>이렇게 다섯가지가 있음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처음 주문이 접수되면 배송상태는 주문접수 상태</a:t>
            </a:r>
            <a:r>
              <a:rPr lang="en-US" altLang="ko-KR" sz="1400">
                <a:highlight>
                  <a:srgbClr val="FFFF00"/>
                </a:highlight>
              </a:rPr>
              <a:t>(0)</a:t>
            </a:r>
            <a:r>
              <a:rPr lang="ko-KR" altLang="ko-KR" sz="1400">
                <a:highlight>
                  <a:srgbClr val="FFFF00"/>
                </a:highlight>
              </a:rPr>
              <a:t>로 함</a:t>
            </a:r>
            <a:r>
              <a:rPr lang="en-US" altLang="ko-KR" sz="1400">
                <a:highlight>
                  <a:srgbClr val="FFFF00"/>
                </a:highligh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처음 주문이 접수되었을 때는 배송담당자가 배정되지 않고 추후에 업데이트함</a:t>
            </a:r>
            <a:r>
              <a:rPr lang="en-US" altLang="ko-KR" sz="1400">
                <a:highlight>
                  <a:srgbClr val="FFFF00"/>
                </a:highligh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배송담당자 배정 시 같은 주소에 대한 여러 주문은 하나의 배송으로 처리함</a:t>
            </a:r>
            <a:r>
              <a:rPr lang="en-US" altLang="ko-KR" sz="1400">
                <a:highlight>
                  <a:srgbClr val="FFFF00"/>
                </a:highlight>
              </a:rPr>
              <a:t>.</a:t>
            </a:r>
            <a:endParaRPr lang="ko-KR" altLang="ko-KR" sz="140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98547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A915-A6BE-D560-7F76-A573C60F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A0080-58AB-EBDC-409A-86CDDC75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35F960-6681-9FDE-3C80-DFE4F5232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809" y="1890162"/>
            <a:ext cx="4695924" cy="3760891"/>
          </a:xfrm>
        </p:spPr>
        <p:txBody>
          <a:bodyPr/>
          <a:lstStyle/>
          <a:p>
            <a:r>
              <a:rPr lang="ko-KR" altLang="en-US"/>
              <a:t>리뷰 기능 </a:t>
            </a:r>
            <a:r>
              <a:rPr lang="en-US" altLang="ko-KR"/>
              <a:t>(WeakEntity)</a:t>
            </a:r>
          </a:p>
          <a:p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006246D-7234-8FC8-868B-8E0110A47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521744"/>
              </p:ext>
            </p:extLst>
          </p:nvPr>
        </p:nvGraphicFramePr>
        <p:xfrm>
          <a:off x="177253" y="2405380"/>
          <a:ext cx="62882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640">
                  <a:extLst>
                    <a:ext uri="{9D8B030D-6E8A-4147-A177-3AD203B41FA5}">
                      <a16:colId xmlns:a16="http://schemas.microsoft.com/office/drawing/2014/main" val="617170363"/>
                    </a:ext>
                  </a:extLst>
                </a:gridCol>
                <a:gridCol w="1257640">
                  <a:extLst>
                    <a:ext uri="{9D8B030D-6E8A-4147-A177-3AD203B41FA5}">
                      <a16:colId xmlns:a16="http://schemas.microsoft.com/office/drawing/2014/main" val="1516563283"/>
                    </a:ext>
                  </a:extLst>
                </a:gridCol>
                <a:gridCol w="1257640">
                  <a:extLst>
                    <a:ext uri="{9D8B030D-6E8A-4147-A177-3AD203B41FA5}">
                      <a16:colId xmlns:a16="http://schemas.microsoft.com/office/drawing/2014/main" val="2662565009"/>
                    </a:ext>
                  </a:extLst>
                </a:gridCol>
                <a:gridCol w="1257640">
                  <a:extLst>
                    <a:ext uri="{9D8B030D-6E8A-4147-A177-3AD203B41FA5}">
                      <a16:colId xmlns:a16="http://schemas.microsoft.com/office/drawing/2014/main" val="2237762785"/>
                    </a:ext>
                  </a:extLst>
                </a:gridCol>
                <a:gridCol w="1257640">
                  <a:extLst>
                    <a:ext uri="{9D8B030D-6E8A-4147-A177-3AD203B41FA5}">
                      <a16:colId xmlns:a16="http://schemas.microsoft.com/office/drawing/2014/main" val="231571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엔티티 </a:t>
                      </a:r>
                      <a:r>
                        <a:rPr lang="en-US" altLang="ko-KR" sz="1400"/>
                        <a:t>(Reviews)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제한조건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리뷰날짜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리뷰 구분</a:t>
                      </a:r>
                      <a:endParaRPr lang="en-US" altLang="ko-KR" sz="1400"/>
                    </a:p>
                    <a:p>
                      <a:pPr latinLnBrk="1"/>
                      <a:r>
                        <a:rPr lang="en-US" altLang="ko-KR" sz="1400"/>
                        <a:t>Partial Key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ReviewDate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YYYY-MM-DD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6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Content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 이하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숫자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6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평점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-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Rating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(0~5)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O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720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5D0BEC-FAD9-C1E6-3FE2-3856CDCDC5A0}"/>
              </a:ext>
            </a:extLst>
          </p:cNvPr>
          <p:cNvSpPr txBox="1"/>
          <p:nvPr/>
        </p:nvSpPr>
        <p:spPr>
          <a:xfrm>
            <a:off x="6733309" y="2170545"/>
            <a:ext cx="44223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사용자는 리뷰를 작성하고 공유할 수 있음</a:t>
            </a: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각 사용자는 동일한 제품에 대한 리뷰를 하루에 하나만 남길 수 있음</a:t>
            </a:r>
            <a:r>
              <a:rPr lang="en-US" altLang="ko-KR" sz="1400"/>
              <a:t>. </a:t>
            </a:r>
          </a:p>
          <a:p>
            <a:r>
              <a:rPr lang="en-US" altLang="ko-KR" sz="1400"/>
              <a:t>-&gt; </a:t>
            </a:r>
            <a:r>
              <a:rPr lang="ko-KR" altLang="en-US" sz="1400">
                <a:highlight>
                  <a:srgbClr val="FFFF00"/>
                </a:highlight>
              </a:rPr>
              <a:t>리뷰날짜로 부분적으로 구분가능</a:t>
            </a:r>
            <a:r>
              <a:rPr lang="en-US" altLang="ko-KR" sz="1400">
                <a:highlight>
                  <a:srgbClr val="FFFF00"/>
                </a:highlight>
              </a:rPr>
              <a:t>. (</a:t>
            </a:r>
            <a:r>
              <a:rPr lang="ko-KR" altLang="en-US" sz="1400">
                <a:highlight>
                  <a:srgbClr val="FFFF00"/>
                </a:highlight>
              </a:rPr>
              <a:t>부분키</a:t>
            </a:r>
            <a:r>
              <a:rPr lang="en-US" altLang="ko-KR" sz="1400">
                <a:highlight>
                  <a:srgbClr val="FFFF00"/>
                </a:highlight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리뷰는</a:t>
            </a:r>
            <a:r>
              <a:rPr lang="en-US" altLang="ko-KR" sz="1400"/>
              <a:t> (</a:t>
            </a:r>
            <a:r>
              <a:rPr lang="ko-KR" altLang="ko-KR" sz="1400"/>
              <a:t>사용자명</a:t>
            </a:r>
            <a:r>
              <a:rPr lang="en-US" altLang="ko-KR" sz="1400"/>
              <a:t>, </a:t>
            </a:r>
            <a:r>
              <a:rPr lang="ko-KR" altLang="ko-KR" sz="1400"/>
              <a:t>상품명</a:t>
            </a:r>
            <a:r>
              <a:rPr lang="en-US" altLang="ko-KR" sz="1400"/>
              <a:t>, </a:t>
            </a:r>
            <a:r>
              <a:rPr lang="ko-KR" altLang="ko-KR" sz="1400"/>
              <a:t>리뷰날짜</a:t>
            </a:r>
            <a:r>
              <a:rPr lang="en-US" altLang="ko-KR" sz="1400"/>
              <a:t>)</a:t>
            </a:r>
            <a:r>
              <a:rPr lang="ko-KR" altLang="ko-KR" sz="1400"/>
              <a:t>로 유일하게 구분되어야함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사용자는 상품에 대한 리뷰로 </a:t>
            </a:r>
            <a:r>
              <a:rPr lang="ko-KR" altLang="ko-KR" sz="1400">
                <a:highlight>
                  <a:srgbClr val="FFFF00"/>
                </a:highlight>
              </a:rPr>
              <a:t>글과 평점</a:t>
            </a:r>
            <a:r>
              <a:rPr lang="ko-KR" altLang="ko-KR" sz="1400"/>
              <a:t>을 남길 수 있어야함</a:t>
            </a:r>
            <a:r>
              <a:rPr lang="en-US" altLang="ko-KR" sz="1400"/>
              <a:t>.</a:t>
            </a:r>
            <a:endParaRPr lang="ko-KR" altLang="ko-KR" sz="1400"/>
          </a:p>
        </p:txBody>
      </p:sp>
    </p:spTree>
    <p:extLst>
      <p:ext uri="{BB962C8B-B14F-4D97-AF65-F5344CB8AC3E}">
        <p14:creationId xmlns:p14="http://schemas.microsoft.com/office/powerpoint/2010/main" val="195778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F0CD-C03D-C088-93F2-3AFAB5F8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32198-A702-59CF-28CC-F35D78A2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9A2794-D5B1-41E5-1D73-38870D61F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4695924" cy="3760891"/>
          </a:xfrm>
        </p:spPr>
        <p:txBody>
          <a:bodyPr/>
          <a:lstStyle/>
          <a:p>
            <a:r>
              <a:rPr lang="ko-KR" altLang="en-US"/>
              <a:t>카테고리 기능</a:t>
            </a:r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597E574-6104-2859-EF40-F7E24AC12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793376"/>
              </p:ext>
            </p:extLst>
          </p:nvPr>
        </p:nvGraphicFramePr>
        <p:xfrm>
          <a:off x="194922" y="2737752"/>
          <a:ext cx="716646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292">
                  <a:extLst>
                    <a:ext uri="{9D8B030D-6E8A-4147-A177-3AD203B41FA5}">
                      <a16:colId xmlns:a16="http://schemas.microsoft.com/office/drawing/2014/main" val="617170363"/>
                    </a:ext>
                  </a:extLst>
                </a:gridCol>
                <a:gridCol w="1690478">
                  <a:extLst>
                    <a:ext uri="{9D8B030D-6E8A-4147-A177-3AD203B41FA5}">
                      <a16:colId xmlns:a16="http://schemas.microsoft.com/office/drawing/2014/main" val="1516563283"/>
                    </a:ext>
                  </a:extLst>
                </a:gridCol>
                <a:gridCol w="1454977">
                  <a:extLst>
                    <a:ext uri="{9D8B030D-6E8A-4147-A177-3AD203B41FA5}">
                      <a16:colId xmlns:a16="http://schemas.microsoft.com/office/drawing/2014/main" val="2662565009"/>
                    </a:ext>
                  </a:extLst>
                </a:gridCol>
                <a:gridCol w="1913929">
                  <a:extLst>
                    <a:ext uri="{9D8B030D-6E8A-4147-A177-3AD203B41FA5}">
                      <a16:colId xmlns:a16="http://schemas.microsoft.com/office/drawing/2014/main" val="2237762785"/>
                    </a:ext>
                  </a:extLst>
                </a:gridCol>
                <a:gridCol w="673784">
                  <a:extLst>
                    <a:ext uri="{9D8B030D-6E8A-4147-A177-3AD203B41FA5}">
                      <a16:colId xmlns:a16="http://schemas.microsoft.com/office/drawing/2014/main" val="231571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엔티티 </a:t>
                      </a:r>
                      <a:r>
                        <a:rPr lang="en-US" altLang="ko-KR" sz="1400"/>
                        <a:t>(Categories)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제한조건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u="sng"/>
                        <a:t>카테고리번호</a:t>
                      </a:r>
                      <a:endParaRPr lang="en-US" altLang="ko-KR" sz="1400" u="sn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CategoryNo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자리 정수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8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카테고리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CategoryName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 이하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숫자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X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8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상위 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자기 참조 외래키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순환적 구조</a:t>
                      </a:r>
                      <a:r>
                        <a:rPr lang="en-US" altLang="ko-KR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ParentCategory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O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679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62A4B95-FAC1-D87A-9665-87BF4503B41E}"/>
              </a:ext>
            </a:extLst>
          </p:cNvPr>
          <p:cNvSpPr txBox="1"/>
          <p:nvPr/>
        </p:nvSpPr>
        <p:spPr>
          <a:xfrm>
            <a:off x="7629236" y="2484427"/>
            <a:ext cx="39716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/>
              <a:t>카테고리 기능을 통해 상품을 </a:t>
            </a:r>
            <a:r>
              <a:rPr lang="ko-KR" altLang="en-US" sz="1400"/>
              <a:t>카테고리</a:t>
            </a:r>
            <a:r>
              <a:rPr lang="ko-KR" altLang="ko-KR" sz="1400"/>
              <a:t>에 따라 구분할 수 있어야함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모든 상품은 무조건 하나의 카테고리에 속해있어야함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>
                <a:highlight>
                  <a:srgbClr val="FFFF00"/>
                </a:highlight>
              </a:rPr>
              <a:t>카테고리는 다른 상위 카테고리가 있을 수 있으며</a:t>
            </a:r>
            <a:r>
              <a:rPr lang="en-US" altLang="ko-KR" sz="1400">
                <a:highlight>
                  <a:srgbClr val="FFFF00"/>
                </a:highlight>
              </a:rPr>
              <a:t>, </a:t>
            </a:r>
            <a:r>
              <a:rPr lang="ko-KR" altLang="ko-KR" sz="1400">
                <a:highlight>
                  <a:srgbClr val="FFFF00"/>
                </a:highlight>
              </a:rPr>
              <a:t>최상위 카테고리의 상위 카테고리는 없음</a:t>
            </a:r>
            <a:r>
              <a:rPr lang="en-US" altLang="ko-KR" sz="1400">
                <a:highlight>
                  <a:srgbClr val="FFFF00"/>
                </a:highligh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/>
              <a:t>0</a:t>
            </a:r>
            <a:r>
              <a:rPr lang="ko-KR" altLang="ko-KR" sz="1400"/>
              <a:t>번 카테고리는 가장 상위 카테고리인 </a:t>
            </a:r>
            <a:r>
              <a:rPr lang="en-US" altLang="ko-KR" sz="1400"/>
              <a:t>‘</a:t>
            </a:r>
            <a:r>
              <a:rPr lang="ko-KR" altLang="ko-KR" sz="1400"/>
              <a:t>전자제품</a:t>
            </a:r>
            <a:r>
              <a:rPr lang="en-US" altLang="ko-KR" sz="1400"/>
              <a:t>’</a:t>
            </a:r>
            <a:r>
              <a:rPr lang="ko-KR" altLang="ko-KR" sz="1400"/>
              <a:t>으로 한다</a:t>
            </a:r>
            <a:r>
              <a:rPr lang="en-US" altLang="ko-KR" sz="1400"/>
              <a:t>.</a:t>
            </a:r>
            <a:endParaRPr lang="ko-KR" altLang="ko-KR" sz="1400"/>
          </a:p>
        </p:txBody>
      </p:sp>
    </p:spTree>
    <p:extLst>
      <p:ext uri="{BB962C8B-B14F-4D97-AF65-F5344CB8AC3E}">
        <p14:creationId xmlns:p14="http://schemas.microsoft.com/office/powerpoint/2010/main" val="275344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08D46-1896-9DE6-492D-C212C15F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다이어그램</a:t>
            </a:r>
            <a:r>
              <a:rPr lang="en-US" altLang="ko-KR"/>
              <a:t>(Entity)</a:t>
            </a:r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1FB871B-C65A-4315-45FE-C2D1CA14D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322" y="2108200"/>
            <a:ext cx="7543355" cy="3760788"/>
          </a:xfrm>
        </p:spPr>
      </p:pic>
    </p:spTree>
    <p:extLst>
      <p:ext uri="{BB962C8B-B14F-4D97-AF65-F5344CB8AC3E}">
        <p14:creationId xmlns:p14="http://schemas.microsoft.com/office/powerpoint/2010/main" val="292505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855B0-2359-89E8-7613-FF7B5E9B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다이어그램</a:t>
            </a:r>
            <a:r>
              <a:rPr lang="en-US" altLang="ko-KR"/>
              <a:t>(Relationship)</a:t>
            </a:r>
            <a:endParaRPr lang="ko-KR" altLang="en-US"/>
          </a:p>
        </p:txBody>
      </p:sp>
      <p:pic>
        <p:nvPicPr>
          <p:cNvPr id="4" name="내용 개체 틀 3" descr="도표, 그림, 라인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CD504E-88FD-A7B5-A6D3-E2B043776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478324"/>
            <a:ext cx="10058400" cy="3020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441157-9970-ABDB-FE7D-5E2023BC3F06}"/>
              </a:ext>
            </a:extLst>
          </p:cNvPr>
          <p:cNvSpPr txBox="1"/>
          <p:nvPr/>
        </p:nvSpPr>
        <p:spPr>
          <a:xfrm>
            <a:off x="800101" y="5618748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사용자가 주문을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9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C3FC-6EB8-B35E-D49F-400ED891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6E118-F677-2B71-7247-73F67C3B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다이어그램</a:t>
            </a:r>
            <a:r>
              <a:rPr lang="en-US" altLang="ko-KR"/>
              <a:t>(Relationship)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7796604-9C5E-64AE-674A-CA899AFDB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6188" y="1792208"/>
            <a:ext cx="4633131" cy="4555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1BE4EF-BD47-F4DB-81FA-829D1CCCBFBF}"/>
              </a:ext>
            </a:extLst>
          </p:cNvPr>
          <p:cNvSpPr txBox="1"/>
          <p:nvPr/>
        </p:nvSpPr>
        <p:spPr>
          <a:xfrm>
            <a:off x="673770" y="5684322"/>
            <a:ext cx="425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배달원이 어떤 상품에 대한 배달을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3B96A-7AD0-9040-812D-CAF18A043801}"/>
              </a:ext>
            </a:extLst>
          </p:cNvPr>
          <p:cNvSpPr txBox="1"/>
          <p:nvPr/>
        </p:nvSpPr>
        <p:spPr>
          <a:xfrm>
            <a:off x="673770" y="5209674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3</a:t>
            </a:r>
            <a:r>
              <a:rPr lang="ko-KR" altLang="en-US"/>
              <a:t>차 관계</a:t>
            </a:r>
          </a:p>
        </p:txBody>
      </p:sp>
    </p:spTree>
    <p:extLst>
      <p:ext uri="{BB962C8B-B14F-4D97-AF65-F5344CB8AC3E}">
        <p14:creationId xmlns:p14="http://schemas.microsoft.com/office/powerpoint/2010/main" val="21913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6770-C0DF-9EC3-0C47-CD726A64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47873-6743-3B49-A377-98762939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다이어그램</a:t>
            </a:r>
            <a:r>
              <a:rPr lang="en-US" altLang="ko-KR"/>
              <a:t>(Relationship)</a:t>
            </a:r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35F4E48-3940-DD07-3ED3-1C0D4EB2E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6840" y="2797803"/>
            <a:ext cx="9278645" cy="238158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6A0D70-ADF2-D86B-9524-059A32B3769C}"/>
              </a:ext>
            </a:extLst>
          </p:cNvPr>
          <p:cNvSpPr txBox="1"/>
          <p:nvPr/>
        </p:nvSpPr>
        <p:spPr>
          <a:xfrm>
            <a:off x="890338" y="5606716"/>
            <a:ext cx="343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상품은 어떤 카테고리에 속한다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52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2277-1F3A-0F89-C0CB-87D5C3D0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71BB2-44CC-263A-27B1-0B41B276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다이어그램</a:t>
            </a:r>
            <a:r>
              <a:rPr lang="en-US" altLang="ko-KR"/>
              <a:t>(Relationship)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E920450-B355-8999-C8B2-5306921A7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493" y="2725808"/>
            <a:ext cx="4401164" cy="227679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01E657-4186-87BC-C109-5D212FABC3C4}"/>
              </a:ext>
            </a:extLst>
          </p:cNvPr>
          <p:cNvSpPr txBox="1"/>
          <p:nvPr/>
        </p:nvSpPr>
        <p:spPr>
          <a:xfrm>
            <a:off x="529390" y="5708984"/>
            <a:ext cx="683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카테고리는 어떤 상위 카테고리에 속한다</a:t>
            </a:r>
            <a:r>
              <a:rPr lang="en-US" altLang="ko-KR"/>
              <a:t>. (</a:t>
            </a:r>
            <a:r>
              <a:rPr lang="ko-KR" altLang="en-US"/>
              <a:t>최상위 카테고리 제외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1070D-A500-D678-BA72-A3F08A2A7D5F}"/>
              </a:ext>
            </a:extLst>
          </p:cNvPr>
          <p:cNvSpPr txBox="1"/>
          <p:nvPr/>
        </p:nvSpPr>
        <p:spPr>
          <a:xfrm>
            <a:off x="529390" y="5171127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순환 관계</a:t>
            </a:r>
          </a:p>
        </p:txBody>
      </p:sp>
    </p:spTree>
    <p:extLst>
      <p:ext uri="{BB962C8B-B14F-4D97-AF65-F5344CB8AC3E}">
        <p14:creationId xmlns:p14="http://schemas.microsoft.com/office/powerpoint/2010/main" val="1894613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719B-7F15-0F7F-D55A-6A0A14B6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C774E-8B1D-0165-DB79-2E61590B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다이어그램</a:t>
            </a:r>
            <a:r>
              <a:rPr lang="en-US" altLang="ko-KR"/>
              <a:t>(Relationship)</a:t>
            </a:r>
            <a:endParaRPr lang="ko-KR" altLang="en-US"/>
          </a:p>
        </p:txBody>
      </p:sp>
      <p:pic>
        <p:nvPicPr>
          <p:cNvPr id="5" name="내용 개체 틀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666A94-2DE8-E989-7B8D-8E5B394FF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2556" y="1998239"/>
            <a:ext cx="6170991" cy="4083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E739F5-D798-4BBC-7CFD-601C99E29A71}"/>
              </a:ext>
            </a:extLst>
          </p:cNvPr>
          <p:cNvSpPr txBox="1"/>
          <p:nvPr/>
        </p:nvSpPr>
        <p:spPr>
          <a:xfrm>
            <a:off x="378996" y="5769143"/>
            <a:ext cx="448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사용자는 어떤 상품에 대한 리뷰를 남긴다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6154C-B560-F115-80E5-6207118A1758}"/>
              </a:ext>
            </a:extLst>
          </p:cNvPr>
          <p:cNvSpPr txBox="1"/>
          <p:nvPr/>
        </p:nvSpPr>
        <p:spPr>
          <a:xfrm>
            <a:off x="378996" y="5332132"/>
            <a:ext cx="2412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Weak</a:t>
            </a:r>
            <a:r>
              <a:rPr lang="ko-KR" altLang="en-US"/>
              <a:t> </a:t>
            </a:r>
            <a:r>
              <a:rPr lang="en-US" altLang="ko-KR"/>
              <a:t>Entity,</a:t>
            </a:r>
            <a:r>
              <a:rPr lang="ko-KR" altLang="en-US"/>
              <a:t> 삼차관계</a:t>
            </a:r>
          </a:p>
        </p:txBody>
      </p:sp>
    </p:spTree>
    <p:extLst>
      <p:ext uri="{BB962C8B-B14F-4D97-AF65-F5344CB8AC3E}">
        <p14:creationId xmlns:p14="http://schemas.microsoft.com/office/powerpoint/2010/main" val="3200439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46566-E306-FE01-04FE-A41A2962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최종 </a:t>
            </a:r>
            <a:r>
              <a:rPr lang="en-US" altLang="ko-KR"/>
              <a:t>ER </a:t>
            </a:r>
            <a:r>
              <a:rPr lang="ko-KR" altLang="en-US"/>
              <a:t>다이어그램</a:t>
            </a:r>
          </a:p>
        </p:txBody>
      </p:sp>
      <p:pic>
        <p:nvPicPr>
          <p:cNvPr id="7" name="내용 개체 틀 6" descr="텍스트, 종이접기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846C88-B616-35F1-E007-16FF24A8A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8471" y="1999237"/>
            <a:ext cx="7774143" cy="434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8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텍스트, 종이접기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D08A00-D926-68FD-16D8-84AF4BBDE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11" y="2195640"/>
            <a:ext cx="5731510" cy="38599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84F4C80-25FB-6EC7-1E8E-E3FB770A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E7CE74-21C9-FE4C-341F-ED4A3FB62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53" y="2401827"/>
            <a:ext cx="6190211" cy="3653733"/>
          </a:xfrm>
        </p:spPr>
        <p:txBody>
          <a:bodyPr/>
          <a:lstStyle/>
          <a:p>
            <a:r>
              <a:rPr lang="en-US" altLang="ko-KR" sz="1400"/>
              <a:t>Regular entity type and single-valued attribute</a:t>
            </a:r>
          </a:p>
          <a:p>
            <a:pPr lvl="1" latinLnBrk="1"/>
            <a:r>
              <a:rPr lang="en-US" altLang="ko-KR" sz="1400" b="1"/>
              <a:t>USERS(</a:t>
            </a:r>
            <a:r>
              <a:rPr lang="en-US" altLang="ko-KR" sz="1400" b="1" u="sng"/>
              <a:t>UserNo</a:t>
            </a:r>
            <a:r>
              <a:rPr lang="en-US" altLang="ko-KR" sz="1400" b="1"/>
              <a:t>, UserName, PhoneNo, Balance, ID, PW)</a:t>
            </a:r>
            <a:endParaRPr lang="ko-KR" altLang="ko-KR" sz="1400" b="1"/>
          </a:p>
          <a:p>
            <a:pPr lvl="1" latinLnBrk="1"/>
            <a:r>
              <a:rPr lang="en-US" altLang="ko-KR" sz="1400" b="1"/>
              <a:t>ORDERS(</a:t>
            </a:r>
            <a:r>
              <a:rPr lang="en-US" altLang="ko-KR" sz="1400" b="1" u="sng"/>
              <a:t>OrderNo</a:t>
            </a:r>
            <a:r>
              <a:rPr lang="en-US" altLang="ko-KR" sz="1400" b="1"/>
              <a:t>, OrderDate, PriceAtOrder, Quantity)</a:t>
            </a:r>
            <a:endParaRPr lang="ko-KR" altLang="ko-KR" sz="1400" b="1"/>
          </a:p>
          <a:p>
            <a:pPr lvl="1" latinLnBrk="1"/>
            <a:r>
              <a:rPr lang="en-US" altLang="ko-KR" sz="1400" b="1"/>
              <a:t>DELIVERYS(</a:t>
            </a:r>
            <a:r>
              <a:rPr lang="en-US" altLang="ko-KR" sz="1400" b="1" u="sng"/>
              <a:t>DeliveryNo</a:t>
            </a:r>
            <a:r>
              <a:rPr lang="en-US" altLang="ko-KR" sz="1400" b="1"/>
              <a:t>, Zipcode, DeliveryStatus, Carrier)</a:t>
            </a:r>
            <a:endParaRPr lang="ko-KR" altLang="ko-KR" sz="1400" b="1"/>
          </a:p>
          <a:p>
            <a:pPr lvl="1" latinLnBrk="1"/>
            <a:r>
              <a:rPr lang="en-US" altLang="ko-KR" sz="1400" b="1"/>
              <a:t>ITEMS(</a:t>
            </a:r>
            <a:r>
              <a:rPr lang="en-US" altLang="ko-KR" sz="1400" b="1" u="sng"/>
              <a:t>ItemNo</a:t>
            </a:r>
            <a:r>
              <a:rPr lang="en-US" altLang="ko-KR" sz="1400" b="1"/>
              <a:t>, ItemName, ItemStock, ItemStatus, ItemPrice)</a:t>
            </a:r>
            <a:endParaRPr lang="ko-KR" altLang="ko-KR" sz="1400" b="1"/>
          </a:p>
          <a:p>
            <a:pPr lvl="1" latinLnBrk="1"/>
            <a:r>
              <a:rPr lang="en-US" altLang="ko-KR" sz="1400" b="1"/>
              <a:t>CATEGORIES(</a:t>
            </a:r>
            <a:r>
              <a:rPr lang="en-US" altLang="ko-KR" sz="1400" b="1" u="sng"/>
              <a:t>CategoryNo</a:t>
            </a:r>
            <a:r>
              <a:rPr lang="en-US" altLang="ko-KR" sz="1400" b="1"/>
              <a:t>, CategoryName)</a:t>
            </a:r>
            <a:endParaRPr lang="ko-KR" altLang="ko-KR" sz="1400"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63DB62C-4947-6212-A892-7759E3E68930}"/>
                  </a:ext>
                </a:extLst>
              </p14:cNvPr>
              <p14:cNvContentPartPr/>
              <p14:nvPr/>
            </p14:nvContentPartPr>
            <p14:xfrm>
              <a:off x="6971997" y="2490480"/>
              <a:ext cx="378000" cy="126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63DB62C-4947-6212-A892-7759E3E689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8357" y="2382480"/>
                <a:ext cx="4856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26F3A63-F110-395A-F2A6-4C53156921F7}"/>
                  </a:ext>
                </a:extLst>
              </p14:cNvPr>
              <p14:cNvContentPartPr/>
              <p14:nvPr/>
            </p14:nvContentPartPr>
            <p14:xfrm>
              <a:off x="7988997" y="5563800"/>
              <a:ext cx="470520" cy="496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26F3A63-F110-395A-F2A6-4C53156921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34997" y="5455800"/>
                <a:ext cx="5781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6439EF60-06E9-DF64-D820-E10CA47A906F}"/>
                  </a:ext>
                </a:extLst>
              </p14:cNvPr>
              <p14:cNvContentPartPr/>
              <p14:nvPr/>
            </p14:nvContentPartPr>
            <p14:xfrm>
              <a:off x="9498837" y="4780440"/>
              <a:ext cx="455040" cy="3312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6439EF60-06E9-DF64-D820-E10CA47A90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44837" y="4672800"/>
                <a:ext cx="5626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FFEF6A6-B880-0B63-E24C-D26AE5031070}"/>
                  </a:ext>
                </a:extLst>
              </p14:cNvPr>
              <p14:cNvContentPartPr/>
              <p14:nvPr/>
            </p14:nvContentPartPr>
            <p14:xfrm>
              <a:off x="10581357" y="4047480"/>
              <a:ext cx="550440" cy="331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FFEF6A6-B880-0B63-E24C-D26AE50310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27717" y="3939480"/>
                <a:ext cx="6580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677B4C80-17C2-83E8-B79A-62315AFEE2D7}"/>
                  </a:ext>
                </a:extLst>
              </p14:cNvPr>
              <p14:cNvContentPartPr/>
              <p14:nvPr/>
            </p14:nvContentPartPr>
            <p14:xfrm>
              <a:off x="9264117" y="3146040"/>
              <a:ext cx="580680" cy="424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677B4C80-17C2-83E8-B79A-62315AFEE2D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10477" y="3038400"/>
                <a:ext cx="6883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BFCCC93C-2D41-9840-40A9-5D8ECAB0BCD4}"/>
                  </a:ext>
                </a:extLst>
              </p14:cNvPr>
              <p14:cNvContentPartPr/>
              <p14:nvPr/>
            </p14:nvContentPartPr>
            <p14:xfrm>
              <a:off x="6635397" y="2195640"/>
              <a:ext cx="223560" cy="13190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BFCCC93C-2D41-9840-40A9-5D8ECAB0BC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81397" y="2088000"/>
                <a:ext cx="331200" cy="15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E69CE46A-987D-5907-AFC3-6923D5A7285F}"/>
                  </a:ext>
                </a:extLst>
              </p14:cNvPr>
              <p14:cNvContentPartPr/>
              <p14:nvPr/>
            </p14:nvContentPartPr>
            <p14:xfrm>
              <a:off x="9543117" y="2231640"/>
              <a:ext cx="830880" cy="84852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E69CE46A-987D-5907-AFC3-6923D5A7285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89477" y="2124000"/>
                <a:ext cx="93852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1333FA16-4FC4-7BE6-CD6D-CAD8E2A1206C}"/>
                  </a:ext>
                </a:extLst>
              </p14:cNvPr>
              <p14:cNvContentPartPr/>
              <p14:nvPr/>
            </p14:nvContentPartPr>
            <p14:xfrm>
              <a:off x="11047917" y="3681360"/>
              <a:ext cx="350640" cy="75528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1333FA16-4FC4-7BE6-CD6D-CAD8E2A1206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93917" y="3573720"/>
                <a:ext cx="458280" cy="9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DB1652E0-10DA-6A75-D4A4-0F9B235784BD}"/>
                  </a:ext>
                </a:extLst>
              </p14:cNvPr>
              <p14:cNvContentPartPr/>
              <p14:nvPr/>
            </p14:nvContentPartPr>
            <p14:xfrm>
              <a:off x="9953517" y="4614120"/>
              <a:ext cx="390240" cy="100800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DB1652E0-10DA-6A75-D4A4-0F9B235784B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899877" y="4506120"/>
                <a:ext cx="497880" cy="12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6AA97E26-63C6-5977-0D0B-1D4F58051FB6}"/>
                  </a:ext>
                </a:extLst>
              </p14:cNvPr>
              <p14:cNvContentPartPr/>
              <p14:nvPr/>
            </p14:nvContentPartPr>
            <p14:xfrm>
              <a:off x="7553757" y="5023080"/>
              <a:ext cx="611640" cy="33624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6AA97E26-63C6-5977-0D0B-1D4F58051FB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499757" y="4915080"/>
                <a:ext cx="719280" cy="55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8037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DE0A-0363-E786-5A35-A07384EC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97891-DA91-F659-A599-EF9C4871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B8C10D-69BC-69AA-EA6A-5BD48448E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124" y="2289848"/>
            <a:ext cx="5140197" cy="3389058"/>
          </a:xfrm>
        </p:spPr>
        <p:txBody>
          <a:bodyPr/>
          <a:lstStyle/>
          <a:p>
            <a:r>
              <a:rPr lang="en-US" altLang="ko-KR" sz="1400"/>
              <a:t>Weak entity type and single-valued attribute</a:t>
            </a:r>
            <a:endParaRPr lang="ko-KR" altLang="ko-KR" sz="1400"/>
          </a:p>
          <a:p>
            <a:pPr lvl="1" latinLnBrk="1"/>
            <a:r>
              <a:rPr lang="en-US" altLang="ko-KR" sz="1400"/>
              <a:t>Weak Entity + </a:t>
            </a:r>
            <a:r>
              <a:rPr lang="ko-KR" altLang="en-US" sz="1400"/>
              <a:t>삼차 관계 </a:t>
            </a:r>
            <a:r>
              <a:rPr lang="en-US" altLang="ko-KR" sz="1400"/>
              <a:t>(Phase6</a:t>
            </a:r>
            <a:r>
              <a:rPr lang="ko-KR" altLang="en-US" sz="1400"/>
              <a:t>으로 볼수도 있음</a:t>
            </a:r>
            <a:r>
              <a:rPr lang="en-US" altLang="ko-KR" sz="1400"/>
              <a:t>)</a:t>
            </a:r>
          </a:p>
          <a:p>
            <a:pPr lvl="1" latinLnBrk="1"/>
            <a:r>
              <a:rPr lang="en-US" altLang="ko-KR" sz="1400" b="1"/>
              <a:t>REVIEWS(</a:t>
            </a:r>
            <a:r>
              <a:rPr lang="en-US" altLang="ko-KR" sz="1400" b="1" u="sng">
                <a:highlight>
                  <a:srgbClr val="FFFF00"/>
                </a:highlight>
              </a:rPr>
              <a:t>UserN</a:t>
            </a:r>
            <a:r>
              <a:rPr lang="en-US" altLang="ko-KR" sz="1400" b="1">
                <a:highlight>
                  <a:srgbClr val="FFFF00"/>
                </a:highlight>
              </a:rPr>
              <a:t>o</a:t>
            </a:r>
            <a:r>
              <a:rPr lang="en-US" altLang="ko-KR" sz="1400" b="1"/>
              <a:t>, </a:t>
            </a:r>
            <a:r>
              <a:rPr lang="en-US" altLang="ko-KR" sz="1400" b="1" u="sng">
                <a:highlight>
                  <a:srgbClr val="FFFF00"/>
                </a:highlight>
              </a:rPr>
              <a:t>ItemNo</a:t>
            </a:r>
            <a:r>
              <a:rPr lang="en-US" altLang="ko-KR" sz="1400" b="1"/>
              <a:t>, </a:t>
            </a:r>
            <a:r>
              <a:rPr lang="en-US" altLang="ko-KR" sz="1400" b="1" u="sng"/>
              <a:t>ReviewDate</a:t>
            </a:r>
            <a:r>
              <a:rPr lang="en-US" altLang="ko-KR" sz="1400" b="1"/>
              <a:t>, Content, Rating)</a:t>
            </a:r>
            <a:endParaRPr lang="ko-KR" altLang="ko-KR" sz="1400" b="1"/>
          </a:p>
          <a:p>
            <a:pPr lvl="1" latinLnBrk="1"/>
            <a:endParaRPr lang="ko-KR" altLang="ko-KR" sz="1400"/>
          </a:p>
        </p:txBody>
      </p:sp>
      <p:pic>
        <p:nvPicPr>
          <p:cNvPr id="4" name="내용 개체 틀 3" descr="도표, 종이접기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6262A7-9F5A-ACDB-F69D-8DFBD81DE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176" y="2049237"/>
            <a:ext cx="6190210" cy="42230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48CBB0B-F221-A963-466D-57F00A642577}"/>
                  </a:ext>
                </a:extLst>
              </p14:cNvPr>
              <p14:cNvContentPartPr/>
              <p14:nvPr/>
            </p14:nvContentPartPr>
            <p14:xfrm>
              <a:off x="6887757" y="2628720"/>
              <a:ext cx="531360" cy="17726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48CBB0B-F221-A963-466D-57F00A6425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33757" y="2521080"/>
                <a:ext cx="639000" cy="19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138EBA0D-2DB9-F2C2-87B5-7316EF522434}"/>
                  </a:ext>
                </a:extLst>
              </p14:cNvPr>
              <p14:cNvContentPartPr/>
              <p14:nvPr/>
            </p14:nvContentPartPr>
            <p14:xfrm>
              <a:off x="7489677" y="3705840"/>
              <a:ext cx="1968120" cy="12067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138EBA0D-2DB9-F2C2-87B5-7316EF5224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35677" y="3597840"/>
                <a:ext cx="2075760" cy="142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2647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D02FB-8B8D-A404-79D0-096471F14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8B28F-E0F0-FFA2-45D0-8F841953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225FA1-12AF-0B56-643F-7FBC4E295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/>
              <a:t>Binary 1 : 1 relation type</a:t>
            </a:r>
          </a:p>
          <a:p>
            <a:r>
              <a:rPr lang="en-US" altLang="ko-KR" sz="1400"/>
              <a:t>- </a:t>
            </a:r>
            <a:r>
              <a:rPr lang="ko-KR" altLang="en-US" sz="1400"/>
              <a:t>없음</a:t>
            </a:r>
          </a:p>
        </p:txBody>
      </p:sp>
      <p:pic>
        <p:nvPicPr>
          <p:cNvPr id="4" name="내용 개체 틀 3" descr="도표, 종이접기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14BDC2E-4DE7-EC36-6FF8-F984DAC3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214" y="2045856"/>
            <a:ext cx="6621830" cy="422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19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3C15-7385-FD81-406F-5A816751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389A6-E4F0-75A4-96E7-3D53C78A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(Phase4)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53AD1F-53F1-BE1D-08BF-B25064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06" y="2028687"/>
            <a:ext cx="10058400" cy="4223025"/>
          </a:xfrm>
        </p:spPr>
        <p:txBody>
          <a:bodyPr/>
          <a:lstStyle/>
          <a:p>
            <a:r>
              <a:rPr lang="en-US" altLang="ko-KR" sz="1400"/>
              <a:t>Regular binary 1 : N relation type</a:t>
            </a:r>
            <a:endParaRPr lang="ko-KR" altLang="ko-KR" sz="1400"/>
          </a:p>
          <a:p>
            <a:pPr lvl="1" latinLnBrk="1"/>
            <a:r>
              <a:rPr lang="en-US" altLang="ko-KR" sz="1400" b="1"/>
              <a:t>ITEMS</a:t>
            </a:r>
          </a:p>
          <a:p>
            <a:pPr marL="201168" lvl="1" indent="0" latinLnBrk="1">
              <a:buNone/>
            </a:pPr>
            <a:r>
              <a:rPr lang="en-US" altLang="ko-KR" sz="1400" b="1"/>
              <a:t>(</a:t>
            </a:r>
            <a:r>
              <a:rPr lang="en-US" altLang="ko-KR" sz="1400" b="1" u="sng"/>
              <a:t>ItemNo</a:t>
            </a:r>
            <a:r>
              <a:rPr lang="en-US" altLang="ko-KR" sz="1400" b="1"/>
              <a:t>, ItemName, ItemStock, ItemStatus, </a:t>
            </a:r>
            <a:r>
              <a:rPr lang="en-US" altLang="ko-KR" sz="1400" b="1">
                <a:highlight>
                  <a:srgbClr val="FFFF00"/>
                </a:highlight>
              </a:rPr>
              <a:t>CategoryNo</a:t>
            </a:r>
            <a:r>
              <a:rPr lang="en-US" altLang="ko-KR" sz="1400" b="1"/>
              <a:t>, ItemPrice)</a:t>
            </a:r>
          </a:p>
          <a:p>
            <a:pPr lvl="1" latinLnBrk="1"/>
            <a:r>
              <a:rPr lang="en-US" altLang="ko-KR" sz="1400" b="1"/>
              <a:t>ORDERS</a:t>
            </a:r>
          </a:p>
          <a:p>
            <a:pPr marL="201168" lvl="1" indent="0" latinLnBrk="1">
              <a:buNone/>
            </a:pPr>
            <a:r>
              <a:rPr lang="en-US" altLang="ko-KR" sz="1400" b="1"/>
              <a:t>(</a:t>
            </a:r>
            <a:r>
              <a:rPr lang="en-US" altLang="ko-KR" sz="1400" b="1" u="sng"/>
              <a:t>OrderNo</a:t>
            </a:r>
            <a:r>
              <a:rPr lang="en-US" altLang="ko-KR" sz="1400" b="1"/>
              <a:t>, OrderDate, PriceAtOrder, Quantity, </a:t>
            </a:r>
            <a:r>
              <a:rPr lang="en-US" altLang="ko-KR" sz="1400" b="1">
                <a:highlight>
                  <a:srgbClr val="00FF00"/>
                </a:highlight>
              </a:rPr>
              <a:t>UserNo</a:t>
            </a:r>
            <a:r>
              <a:rPr lang="en-US" altLang="ko-KR" sz="1400" b="1"/>
              <a:t>)</a:t>
            </a:r>
          </a:p>
          <a:p>
            <a:pPr lvl="1" latinLnBrk="1"/>
            <a:r>
              <a:rPr lang="en-US" altLang="ko-KR" sz="1400" b="1"/>
              <a:t>CATEGORIES</a:t>
            </a:r>
          </a:p>
          <a:p>
            <a:pPr marL="201168" lvl="1" indent="0" latinLnBrk="1">
              <a:buNone/>
            </a:pPr>
            <a:r>
              <a:rPr lang="en-US" altLang="ko-KR" sz="1400" b="1"/>
              <a:t>(</a:t>
            </a:r>
            <a:r>
              <a:rPr lang="en-US" altLang="ko-KR" sz="1400" b="1" u="sng"/>
              <a:t>CategoryNo</a:t>
            </a:r>
            <a:r>
              <a:rPr lang="en-US" altLang="ko-KR" sz="1400" b="1"/>
              <a:t>, CategoryName, </a:t>
            </a:r>
            <a:r>
              <a:rPr lang="en-US" altLang="ko-KR" sz="1400" b="1">
                <a:highlight>
                  <a:srgbClr val="00FFFF"/>
                </a:highlight>
              </a:rPr>
              <a:t>ParentCategoryNo</a:t>
            </a:r>
            <a:r>
              <a:rPr lang="en-US" altLang="ko-KR" sz="1400" b="1"/>
              <a:t>)</a:t>
            </a:r>
            <a:endParaRPr lang="ko-KR" altLang="ko-KR" sz="1400" b="1"/>
          </a:p>
        </p:txBody>
      </p:sp>
      <p:pic>
        <p:nvPicPr>
          <p:cNvPr id="4" name="내용 개체 틀 3" descr="도표, 종이접기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D95212A-D4F5-2556-B90B-E5356D71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208" y="1945661"/>
            <a:ext cx="6234485" cy="4223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A7F4678-C914-6F5D-C687-4C37DFC89A24}"/>
                  </a:ext>
                </a:extLst>
              </p14:cNvPr>
              <p14:cNvContentPartPr/>
              <p14:nvPr/>
            </p14:nvContentPartPr>
            <p14:xfrm>
              <a:off x="8058542" y="4691709"/>
              <a:ext cx="1409040" cy="8229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A7F4678-C914-6F5D-C687-4C37DFC89A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04902" y="4583709"/>
                <a:ext cx="1516680" cy="10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FA5B7CB-E9FE-3C78-F2F5-8A98C9DB9BB2}"/>
                  </a:ext>
                </a:extLst>
              </p14:cNvPr>
              <p14:cNvContentPartPr/>
              <p14:nvPr/>
            </p14:nvContentPartPr>
            <p14:xfrm>
              <a:off x="7170717" y="2400120"/>
              <a:ext cx="2044440" cy="6778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FA5B7CB-E9FE-3C78-F2F5-8A98C9DB9B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16717" y="2292120"/>
                <a:ext cx="2152080" cy="8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3BC7CA9-31C7-BED5-8EFE-75585FDD2070}"/>
                  </a:ext>
                </a:extLst>
              </p14:cNvPr>
              <p14:cNvContentPartPr/>
              <p14:nvPr/>
            </p14:nvContentPartPr>
            <p14:xfrm>
              <a:off x="7668957" y="5504040"/>
              <a:ext cx="681480" cy="6159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3BC7CA9-31C7-BED5-8EFE-75585FDD20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14957" y="5396400"/>
                <a:ext cx="789120" cy="8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5618063-4064-C031-3C40-2DE9E6C30514}"/>
                  </a:ext>
                </a:extLst>
              </p14:cNvPr>
              <p14:cNvContentPartPr/>
              <p14:nvPr/>
            </p14:nvContentPartPr>
            <p14:xfrm>
              <a:off x="7700277" y="5967360"/>
              <a:ext cx="273960" cy="1818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5618063-4064-C031-3C40-2DE9E6C305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46277" y="5859720"/>
                <a:ext cx="381600" cy="3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9113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8FC5-92FB-5021-5742-EE3643BA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3CDED-7B46-955A-18C6-4AA4CF63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(Phase5)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8486B3-DA8D-AC19-55E9-1AD00D4BC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/>
              <a:t>Binary M : N relation type</a:t>
            </a:r>
          </a:p>
          <a:p>
            <a:r>
              <a:rPr lang="en-US" altLang="ko-KR" sz="1400"/>
              <a:t>- </a:t>
            </a:r>
            <a:r>
              <a:rPr lang="ko-KR" altLang="en-US" sz="1400"/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1295805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FCEB-3E66-5E13-E6F1-4416889C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EFF4D-70A0-A01D-DE94-E106E361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(Phase6)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69D32-DDEA-BF25-BA7D-9213AADE6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97" y="2167836"/>
            <a:ext cx="10058400" cy="3760891"/>
          </a:xfrm>
        </p:spPr>
        <p:txBody>
          <a:bodyPr/>
          <a:lstStyle/>
          <a:p>
            <a:r>
              <a:rPr lang="en-US" altLang="ko-KR" sz="1400" b="1"/>
              <a:t>Ternary or more ary relation type</a:t>
            </a:r>
          </a:p>
          <a:p>
            <a:endParaRPr lang="en-US" altLang="ko-KR" sz="1400"/>
          </a:p>
          <a:p>
            <a:pPr lvl="1" latinLnBrk="1"/>
            <a:r>
              <a:rPr lang="en-US" altLang="ko-KR" sz="1400" b="1"/>
              <a:t>ORDER_ITEM_DELIVERY(</a:t>
            </a:r>
            <a:r>
              <a:rPr lang="en-US" altLang="ko-KR" sz="1400" b="1" u="sng">
                <a:highlight>
                  <a:srgbClr val="FFFF00"/>
                </a:highlight>
              </a:rPr>
              <a:t>OrderNo</a:t>
            </a:r>
            <a:r>
              <a:rPr lang="en-US" altLang="ko-KR" sz="1400" b="1"/>
              <a:t>, </a:t>
            </a:r>
            <a:r>
              <a:rPr lang="en-US" altLang="ko-KR" sz="1400" b="1" u="sng">
                <a:highlight>
                  <a:srgbClr val="FFFF00"/>
                </a:highlight>
              </a:rPr>
              <a:t>DeliveryNo</a:t>
            </a:r>
            <a:r>
              <a:rPr lang="en-US" altLang="ko-KR" sz="1400" b="1"/>
              <a:t>, </a:t>
            </a:r>
            <a:r>
              <a:rPr lang="en-US" altLang="ko-KR" sz="1400" b="1" u="sng">
                <a:highlight>
                  <a:srgbClr val="FFFF00"/>
                </a:highlight>
              </a:rPr>
              <a:t>ItemNo</a:t>
            </a:r>
            <a:r>
              <a:rPr lang="en-US" altLang="ko-KR" sz="1400" b="1"/>
              <a:t>) </a:t>
            </a:r>
          </a:p>
          <a:p>
            <a:pPr marL="201168" lvl="1" indent="0" latinLnBrk="1">
              <a:buNone/>
            </a:pPr>
            <a:r>
              <a:rPr lang="en-US" altLang="ko-KR" sz="1400"/>
              <a:t>-&gt; </a:t>
            </a:r>
            <a:r>
              <a:rPr lang="ko-KR" altLang="ko-KR" sz="1400"/>
              <a:t>관계를 테이블로 따로 분리해서 중복을 최소화</a:t>
            </a:r>
          </a:p>
          <a:p>
            <a:endParaRPr lang="ko-KR" altLang="en-US" sz="1400"/>
          </a:p>
        </p:txBody>
      </p:sp>
      <p:pic>
        <p:nvPicPr>
          <p:cNvPr id="4" name="내용 개체 틀 3" descr="도표, 종이접기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D439A6-EAB7-DA96-0C1A-06064D151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473" y="2019158"/>
            <a:ext cx="6621830" cy="42230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37E2079-67E0-7339-38B7-F3C233D47E56}"/>
                  </a:ext>
                </a:extLst>
              </p14:cNvPr>
              <p14:cNvContentPartPr/>
              <p14:nvPr/>
            </p14:nvContentPartPr>
            <p14:xfrm>
              <a:off x="9173397" y="3260160"/>
              <a:ext cx="241920" cy="13158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37E2079-67E0-7339-38B7-F3C233D47E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19757" y="3152520"/>
                <a:ext cx="34956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AFD2F2B-75C0-040F-9867-0C2362966DC4}"/>
                  </a:ext>
                </a:extLst>
              </p14:cNvPr>
              <p14:cNvContentPartPr/>
              <p14:nvPr/>
            </p14:nvContentPartPr>
            <p14:xfrm>
              <a:off x="9318117" y="3999240"/>
              <a:ext cx="1019520" cy="255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AFD2F2B-75C0-040F-9867-0C2362966D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64477" y="3891240"/>
                <a:ext cx="1127160" cy="24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3738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BC6C7-F6AD-AAC4-D34E-B0A3282A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스키마 매핑 </a:t>
            </a:r>
            <a:r>
              <a:rPr lang="en-US" altLang="ko-KR"/>
              <a:t>(Phase7)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C00C1D-7ECF-A547-9F1E-79D7C3FB2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/>
              <a:t>Multi-valued attribute</a:t>
            </a:r>
          </a:p>
          <a:p>
            <a:r>
              <a:rPr lang="en-US" altLang="ko-KR" sz="1400"/>
              <a:t>- </a:t>
            </a:r>
            <a:r>
              <a:rPr lang="ko-KR" altLang="en-US" sz="1400"/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3259219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50D3E-286F-18AD-C67F-BBFA5D36D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정규화</a:t>
            </a:r>
          </a:p>
        </p:txBody>
      </p:sp>
      <p:pic>
        <p:nvPicPr>
          <p:cNvPr id="4" name="내용 개체 틀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04863-B134-426F-3A13-FF34C0B3A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907" y="2162342"/>
            <a:ext cx="7148786" cy="3760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80ABE-11EC-7F5D-8259-E1A1C61E8E8F}"/>
              </a:ext>
            </a:extLst>
          </p:cNvPr>
          <p:cNvSpPr txBox="1"/>
          <p:nvPr/>
        </p:nvSpPr>
        <p:spPr>
          <a:xfrm>
            <a:off x="8400977" y="2324768"/>
            <a:ext cx="3092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ID</a:t>
            </a:r>
            <a:r>
              <a:rPr lang="ko-KR" altLang="en-US" sz="1400"/>
              <a:t>를 통한 이행적 관계</a:t>
            </a:r>
            <a:r>
              <a:rPr lang="en-US" altLang="ko-KR" sz="1400"/>
              <a:t>?</a:t>
            </a:r>
          </a:p>
          <a:p>
            <a:endParaRPr lang="en-US" altLang="ko-KR" sz="1400"/>
          </a:p>
          <a:p>
            <a:r>
              <a:rPr lang="en-US" altLang="ko-KR" sz="1400"/>
              <a:t>-&gt; ID</a:t>
            </a:r>
            <a:r>
              <a:rPr lang="ko-KR" altLang="en-US" sz="1400"/>
              <a:t>는 </a:t>
            </a:r>
            <a:r>
              <a:rPr lang="ko-KR" altLang="en-US" sz="1400" b="1"/>
              <a:t>후보키</a:t>
            </a:r>
            <a:r>
              <a:rPr lang="en-US" altLang="ko-KR" sz="1400"/>
              <a:t> -&gt; </a:t>
            </a:r>
            <a:r>
              <a:rPr lang="ko-KR" altLang="en-US" sz="1400"/>
              <a:t>해결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7105354-9801-97B1-BA1C-811AAEC4EAFE}"/>
              </a:ext>
            </a:extLst>
          </p:cNvPr>
          <p:cNvGrpSpPr/>
          <p:nvPr/>
        </p:nvGrpSpPr>
        <p:grpSpPr>
          <a:xfrm>
            <a:off x="5672037" y="2369520"/>
            <a:ext cx="2666880" cy="524520"/>
            <a:chOff x="5672037" y="2369520"/>
            <a:chExt cx="2666880" cy="5245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1A92192-39C6-C249-0817-EA36058EA7EA}"/>
                    </a:ext>
                  </a:extLst>
                </p14:cNvPr>
                <p14:cNvContentPartPr/>
                <p14:nvPr/>
              </p14:nvContentPartPr>
              <p14:xfrm>
                <a:off x="5672037" y="2369520"/>
                <a:ext cx="448200" cy="3261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1A92192-39C6-C249-0817-EA36058EA7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63397" y="2360880"/>
                  <a:ext cx="4658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9F705C7-6883-2FED-AF75-5C285205324E}"/>
                    </a:ext>
                  </a:extLst>
                </p14:cNvPr>
                <p14:cNvContentPartPr/>
                <p14:nvPr/>
              </p14:nvContentPartPr>
              <p14:xfrm>
                <a:off x="6099717" y="2604600"/>
                <a:ext cx="2185920" cy="2894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9F705C7-6883-2FED-AF75-5C28520532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91077" y="2595960"/>
                  <a:ext cx="2203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DDA7B18-2777-4971-DDD3-69C1116C1BA7}"/>
                    </a:ext>
                  </a:extLst>
                </p14:cNvPr>
                <p14:cNvContentPartPr/>
                <p14:nvPr/>
              </p14:nvContentPartPr>
              <p14:xfrm>
                <a:off x="8168997" y="2604240"/>
                <a:ext cx="169920" cy="2318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DDA7B18-2777-4971-DDD3-69C1116C1B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60357" y="2595240"/>
                  <a:ext cx="187560" cy="24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4121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40C94-5626-6F7C-191E-7D91BA0C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최종 </a:t>
            </a:r>
            <a:r>
              <a:rPr lang="en-US" altLang="ko-KR"/>
              <a:t>DB Schema</a:t>
            </a:r>
            <a:endParaRPr lang="ko-KR" altLang="en-US"/>
          </a:p>
        </p:txBody>
      </p:sp>
      <p:pic>
        <p:nvPicPr>
          <p:cNvPr id="4" name="내용 개체 틀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DFDADA-B48C-D5EB-9239-2AAEA999B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005" y="2108200"/>
            <a:ext cx="7374315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34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6C7B-8AB4-9C6E-9AE2-E2C4D73A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A01AB-764D-5818-CEB7-E28928FC9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외래키 관련 조건 설정</a:t>
            </a:r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BE9B77-0A07-1CA0-F9BF-4FA4568E1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598821"/>
            <a:ext cx="7283798" cy="2789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0176F2-B065-9220-3A06-3FFFEFB83190}"/>
              </a:ext>
            </a:extLst>
          </p:cNvPr>
          <p:cNvSpPr txBox="1"/>
          <p:nvPr/>
        </p:nvSpPr>
        <p:spPr>
          <a:xfrm>
            <a:off x="8428121" y="3089316"/>
            <a:ext cx="28334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ko-KR" sz="1400"/>
              <a:t>사용자가 삭제되면 주문기록이 의미가 없음</a:t>
            </a:r>
            <a:endParaRPr lang="en-US" altLang="ko-KR" sz="1400"/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삭제 시</a:t>
            </a:r>
            <a:r>
              <a:rPr lang="en-US" altLang="ko-KR" sz="1400"/>
              <a:t> CASCADE</a:t>
            </a:r>
          </a:p>
          <a:p>
            <a:pPr lvl="1"/>
            <a:endParaRPr lang="ko-KR" altLang="ko-KR" sz="1400"/>
          </a:p>
          <a:p>
            <a:pPr lvl="1"/>
            <a:r>
              <a:rPr lang="ko-KR" altLang="ko-KR" sz="1400"/>
              <a:t>사용자 정보가 변경되면 주문기록도 동기화</a:t>
            </a:r>
            <a:endParaRPr lang="en-US" altLang="ko-KR" sz="1400"/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수정 시</a:t>
            </a:r>
            <a:r>
              <a:rPr lang="en-US" altLang="ko-KR" sz="1400"/>
              <a:t> CASCADE</a:t>
            </a:r>
          </a:p>
          <a:p>
            <a:pPr lvl="1"/>
            <a:endParaRPr lang="ko-KR" altLang="ko-KR" sz="1400"/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611856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8CE2-B7DA-7E71-96E0-804C7C56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8402D-D475-EBED-9300-953FD246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외래키 관련 조건 설정</a:t>
            </a:r>
          </a:p>
        </p:txBody>
      </p:sp>
      <p:pic>
        <p:nvPicPr>
          <p:cNvPr id="3" name="내용 개체 틀 2" descr="텍스트, 스크린샷, 폰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4DD2B1-6C80-B836-B15D-EBA525024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980" y="2577457"/>
            <a:ext cx="7913660" cy="2975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D829C4-3448-D814-02B9-E075FD938449}"/>
              </a:ext>
            </a:extLst>
          </p:cNvPr>
          <p:cNvSpPr txBox="1"/>
          <p:nvPr/>
        </p:nvSpPr>
        <p:spPr>
          <a:xfrm>
            <a:off x="8837640" y="3429000"/>
            <a:ext cx="3140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400"/>
              <a:t>순환 관계라</a:t>
            </a:r>
            <a:r>
              <a:rPr lang="en-US" altLang="ko-KR" sz="1400"/>
              <a:t> NO ACTION</a:t>
            </a:r>
            <a:r>
              <a:rPr lang="ko-KR" altLang="ko-KR" sz="1400"/>
              <a:t>으로 처리함</a:t>
            </a:r>
            <a:r>
              <a:rPr lang="en-US" altLang="ko-KR" sz="1400"/>
              <a:t>.</a:t>
            </a:r>
            <a:endParaRPr lang="ko-KR" altLang="ko-KR" sz="1400"/>
          </a:p>
        </p:txBody>
      </p:sp>
    </p:spTree>
    <p:extLst>
      <p:ext uri="{BB962C8B-B14F-4D97-AF65-F5344CB8AC3E}">
        <p14:creationId xmlns:p14="http://schemas.microsoft.com/office/powerpoint/2010/main" val="3990705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606A-F8DF-049B-400A-09481173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7CE39-E5C0-8424-7805-3231B3DE1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외래키 관련 조건 설정</a:t>
            </a:r>
          </a:p>
        </p:txBody>
      </p:sp>
      <p:pic>
        <p:nvPicPr>
          <p:cNvPr id="3" name="내용 개체 틀 2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867D66-47EE-1CF1-7A6B-C50D8DF7C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247" y="2526059"/>
            <a:ext cx="6629051" cy="3074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D43181-8308-B172-16F7-C60119F54C2C}"/>
              </a:ext>
            </a:extLst>
          </p:cNvPr>
          <p:cNvSpPr txBox="1"/>
          <p:nvPr/>
        </p:nvSpPr>
        <p:spPr>
          <a:xfrm>
            <a:off x="7164805" y="2526059"/>
            <a:ext cx="4692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ko-KR" sz="1400"/>
              <a:t>소속 상품이 하나라도 있는 카테고리는</a:t>
            </a:r>
            <a:endParaRPr lang="en-US" altLang="ko-KR" sz="1400"/>
          </a:p>
          <a:p>
            <a:pPr lvl="1"/>
            <a:r>
              <a:rPr lang="ko-KR" altLang="en-US" sz="1400"/>
              <a:t>안전하게，　</a:t>
            </a:r>
            <a:r>
              <a:rPr lang="ko-KR" altLang="ko-KR" sz="1400"/>
              <a:t>삭제하지 못하게 막</a:t>
            </a:r>
            <a:r>
              <a:rPr lang="ko-KR" altLang="en-US" sz="1400"/>
              <a:t>음</a:t>
            </a:r>
            <a:r>
              <a:rPr lang="en-US" altLang="ko-KR" sz="1400"/>
              <a:t>.</a:t>
            </a:r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삭제 시</a:t>
            </a:r>
            <a:r>
              <a:rPr lang="en-US" altLang="ko-KR" sz="1400"/>
              <a:t> NO ACTION </a:t>
            </a:r>
            <a:endParaRPr lang="ko-KR" altLang="ko-KR" sz="1400"/>
          </a:p>
          <a:p>
            <a:pPr lvl="1"/>
            <a:r>
              <a:rPr lang="ko-KR" altLang="ko-KR" sz="1400"/>
              <a:t>카테고리 삭제를 원한다면 소속상품의 카테고리를 전부 옮기고 삭제 해야함</a:t>
            </a:r>
            <a:r>
              <a:rPr lang="en-US" altLang="ko-KR" sz="1400"/>
              <a:t>.</a:t>
            </a:r>
          </a:p>
          <a:p>
            <a:pPr lvl="1"/>
            <a:endParaRPr lang="ko-KR" altLang="ko-KR" sz="1400"/>
          </a:p>
          <a:p>
            <a:pPr lvl="1"/>
            <a:r>
              <a:rPr lang="ko-KR" altLang="ko-KR" sz="1400"/>
              <a:t>카테고리번호 수정 시</a:t>
            </a:r>
            <a:r>
              <a:rPr lang="en-US" altLang="ko-KR" sz="1400"/>
              <a:t> ITEM</a:t>
            </a:r>
            <a:r>
              <a:rPr lang="ko-KR" altLang="ko-KR" sz="1400"/>
              <a:t>에도 적용해야함</a:t>
            </a:r>
            <a:r>
              <a:rPr lang="en-US" altLang="ko-KR" sz="1400"/>
              <a:t>.</a:t>
            </a:r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수정 시</a:t>
            </a:r>
            <a:r>
              <a:rPr lang="en-US" altLang="ko-KR" sz="1400"/>
              <a:t> CASCADE </a:t>
            </a:r>
          </a:p>
        </p:txBody>
      </p:sp>
    </p:spTree>
    <p:extLst>
      <p:ext uri="{BB962C8B-B14F-4D97-AF65-F5344CB8AC3E}">
        <p14:creationId xmlns:p14="http://schemas.microsoft.com/office/powerpoint/2010/main" val="1623563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C03B-14D3-B28C-0599-FBAE8BBE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67401-DAB6-1C0A-8C59-C82EED86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외래키 관련 조건 설정</a:t>
            </a:r>
          </a:p>
        </p:txBody>
      </p:sp>
      <p:pic>
        <p:nvPicPr>
          <p:cNvPr id="3" name="내용 개체 틀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30F9E0-32F9-9E45-077A-873DDD703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558" y="2378624"/>
            <a:ext cx="6409040" cy="3516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425FF9-1988-F9EC-45D5-526BCF525552}"/>
              </a:ext>
            </a:extLst>
          </p:cNvPr>
          <p:cNvSpPr txBox="1"/>
          <p:nvPr/>
        </p:nvSpPr>
        <p:spPr>
          <a:xfrm>
            <a:off x="7323623" y="3194384"/>
            <a:ext cx="39319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ko-KR" sz="1400"/>
              <a:t>사용자번호 변경시 그에 따라 리뷰도 동기화되어야함</a:t>
            </a:r>
            <a:endParaRPr lang="en-US" altLang="ko-KR" sz="1400"/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삭제와 수정 시 모두</a:t>
            </a:r>
            <a:r>
              <a:rPr lang="en-US" altLang="ko-KR" sz="1400"/>
              <a:t> CASCADE</a:t>
            </a:r>
          </a:p>
          <a:p>
            <a:pPr lvl="1"/>
            <a:endParaRPr lang="ko-KR" altLang="ko-KR" sz="1400"/>
          </a:p>
          <a:p>
            <a:pPr lvl="1"/>
            <a:r>
              <a:rPr lang="ko-KR" altLang="ko-KR" sz="1400"/>
              <a:t>아이템번호 변경시 그에 따라 리뷰도 동기화되어야함</a:t>
            </a:r>
            <a:r>
              <a:rPr lang="en-US" altLang="ko-KR" sz="1400"/>
              <a:t>:</a:t>
            </a:r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삭제와 수정 시 모두</a:t>
            </a:r>
            <a:r>
              <a:rPr lang="en-US" altLang="ko-KR" sz="1400"/>
              <a:t> CASCADE</a:t>
            </a:r>
          </a:p>
        </p:txBody>
      </p:sp>
    </p:spTree>
    <p:extLst>
      <p:ext uri="{BB962C8B-B14F-4D97-AF65-F5344CB8AC3E}">
        <p14:creationId xmlns:p14="http://schemas.microsoft.com/office/powerpoint/2010/main" val="1311643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676B-4041-8A59-F1BD-6AF0DA1C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3812A-C6C1-3508-1440-97D67143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외래키 관련 조건 설정</a:t>
            </a:r>
          </a:p>
        </p:txBody>
      </p:sp>
      <p:pic>
        <p:nvPicPr>
          <p:cNvPr id="3" name="내용 개체 틀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570ED3-7599-5147-D856-5ED93BE30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184" y="2353391"/>
            <a:ext cx="6100173" cy="3458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4F928F-330C-CA5A-6C6A-C3DECDAB1745}"/>
              </a:ext>
            </a:extLst>
          </p:cNvPr>
          <p:cNvSpPr txBox="1"/>
          <p:nvPr/>
        </p:nvSpPr>
        <p:spPr>
          <a:xfrm>
            <a:off x="6912142" y="3627521"/>
            <a:ext cx="44983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/>
              <a:t>ORDERS, ITEMS, DELIVERY</a:t>
            </a:r>
            <a:r>
              <a:rPr lang="ko-KR" altLang="ko-KR" sz="1400"/>
              <a:t>를 연결하는 테이블임</a:t>
            </a:r>
            <a:r>
              <a:rPr lang="en-US" altLang="ko-KR" sz="1400"/>
              <a:t>.</a:t>
            </a:r>
          </a:p>
          <a:p>
            <a:pPr marL="742950" lvl="1" indent="-285750">
              <a:buFont typeface="Wingdings" panose="05000000000000000000" pitchFamily="2" charset="2"/>
              <a:buChar char="è"/>
            </a:pPr>
            <a:r>
              <a:rPr lang="ko-KR" altLang="ko-KR" sz="1400"/>
              <a:t>삭제와 수정 시 모두</a:t>
            </a:r>
            <a:r>
              <a:rPr lang="en-US" altLang="ko-KR" sz="1400"/>
              <a:t> CASCADE</a:t>
            </a:r>
          </a:p>
        </p:txBody>
      </p:sp>
    </p:spTree>
    <p:extLst>
      <p:ext uri="{BB962C8B-B14F-4D97-AF65-F5344CB8AC3E}">
        <p14:creationId xmlns:p14="http://schemas.microsoft.com/office/powerpoint/2010/main" val="2770813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AA0D24-44B0-973B-1D0B-B54B61B0B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ko-KR" altLang="en-US"/>
              <a:t>메인화면</a:t>
            </a:r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0B55C98-08E7-A136-6427-AB540FA1D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내용 개체 틀 3" descr="텍스트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6D7DA54-5373-ED26-590A-C936706F82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5" r="3" b="3"/>
          <a:stretch>
            <a:fillRect/>
          </a:stretch>
        </p:blipFill>
        <p:spPr>
          <a:xfrm>
            <a:off x="4648201" y="640081"/>
            <a:ext cx="6909801" cy="5314406"/>
          </a:xfrm>
          <a:prstGeom prst="rect">
            <a:avLst/>
          </a:prstGeom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594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8124B-84E0-095A-DE84-AE58E650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6194A1-7242-B200-D5FD-A8E1A375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altLang="ko-KR"/>
              <a:t>SELECT</a:t>
            </a:r>
            <a:endParaRPr lang="ko-KR" altLang="en-US"/>
          </a:p>
        </p:txBody>
      </p:sp>
      <p:cxnSp>
        <p:nvCxnSpPr>
          <p:cNvPr id="31" name="Straight Connector 25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D21672C2-E827-950B-0B3E-0A83020A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endParaRPr lang="en-US" altLang="ko-KR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3" name="그림 2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6C1731-6BEE-3CA1-2472-D085D262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112519"/>
            <a:ext cx="7120128" cy="45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20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1ADE6-DD0A-31F5-9891-6433728A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01C8B3-99CF-2EAC-6343-1EFDF37A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altLang="ko-KR"/>
              <a:t>SELECT</a:t>
            </a:r>
            <a:r>
              <a:rPr lang="en-US" altLang="ko-KR" sz="1600"/>
              <a:t>_Reviews</a:t>
            </a:r>
            <a:endParaRPr lang="ko-KR" altLang="en-US" sz="16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E4D9C0-3923-47BD-5E5E-8CF34095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170" y="460928"/>
            <a:ext cx="6580977" cy="5652771"/>
          </a:xfrm>
          <a:prstGeom prst="rect">
            <a:avLst/>
          </a:prstGeom>
        </p:spPr>
      </p:pic>
      <p:pic>
        <p:nvPicPr>
          <p:cNvPr id="6" name="내용 개체 틀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411605-85AC-1DE3-87FB-249D342FE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257" y="2537563"/>
            <a:ext cx="3922966" cy="357613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78012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FCABE-0DFB-EA97-B8A7-FA746B63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78F94C-73DD-E40E-F7EC-8435BB2C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altLang="ko-KR"/>
              <a:t>INSERT</a:t>
            </a:r>
            <a:endParaRPr lang="ko-KR" alt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CC042735-05AC-6D24-D221-4AF08F5D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endParaRPr lang="en-US" altLang="ko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43DA85-152D-8CAD-E5C0-ED1BD23C7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12" y="798577"/>
            <a:ext cx="6600405" cy="500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42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B9FC-B0AF-B97A-948A-72B1B9451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16948-A333-F154-34A4-66B0139E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17" y="531314"/>
            <a:ext cx="4137007" cy="1450757"/>
          </a:xfrm>
        </p:spPr>
        <p:txBody>
          <a:bodyPr>
            <a:normAutofit/>
          </a:bodyPr>
          <a:lstStyle/>
          <a:p>
            <a:r>
              <a:rPr lang="en-US" altLang="ko-KR"/>
              <a:t>INSERT</a:t>
            </a:r>
            <a:r>
              <a:rPr lang="en-US" altLang="ko-KR" sz="1600"/>
              <a:t>_PlaceOrder</a:t>
            </a:r>
            <a:endParaRPr lang="ko-KR" altLang="en-US" sz="1600"/>
          </a:p>
        </p:txBody>
      </p:sp>
      <p:pic>
        <p:nvPicPr>
          <p:cNvPr id="3" name="내용 개체 틀 2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ABE33D-34BB-04A4-E42C-04D9FC752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800" y="2107013"/>
            <a:ext cx="3450140" cy="411604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3C542-9146-4DEF-B679-69F7F82E7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7" y="689810"/>
            <a:ext cx="6778263" cy="524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77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B287D-A9B6-FE74-41D3-0F81ED96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INSERT</a:t>
            </a:r>
            <a:r>
              <a:rPr lang="en-US" altLang="ko-KR" sz="1400"/>
              <a:t>_PlaceOrder</a:t>
            </a:r>
            <a:endParaRPr lang="ko-KR" altLang="en-US" sz="1400"/>
          </a:p>
        </p:txBody>
      </p:sp>
      <p:pic>
        <p:nvPicPr>
          <p:cNvPr id="4" name="내용 개체 틀 3" descr="텍스트, 폰트, 친필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2D9B5B-64B3-1453-D345-313A2B7F0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497" y="2319516"/>
            <a:ext cx="6820852" cy="1533739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DD0EA9-4869-46C5-4070-2B036914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397" y="4102609"/>
            <a:ext cx="8105904" cy="18242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E50224F-49C5-FD5A-DA64-3AF1DB2B7B7E}"/>
              </a:ext>
            </a:extLst>
          </p:cNvPr>
          <p:cNvSpPr/>
          <p:nvPr/>
        </p:nvSpPr>
        <p:spPr>
          <a:xfrm>
            <a:off x="3444240" y="4547616"/>
            <a:ext cx="8357616" cy="347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EC45525-2033-3119-1007-09E2B7B1883D}"/>
                  </a:ext>
                </a:extLst>
              </p14:cNvPr>
              <p14:cNvContentPartPr/>
              <p14:nvPr/>
            </p14:nvContentPartPr>
            <p14:xfrm>
              <a:off x="9652980" y="4418520"/>
              <a:ext cx="893520" cy="5886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EC45525-2033-3119-1007-09E2B7B188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44340" y="4409880"/>
                <a:ext cx="911160" cy="6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35F588A7-3CA0-1ABE-1FEF-287110B1FF89}"/>
                  </a:ext>
                </a:extLst>
              </p14:cNvPr>
              <p14:cNvContentPartPr/>
              <p14:nvPr/>
            </p14:nvContentPartPr>
            <p14:xfrm>
              <a:off x="10339500" y="4373160"/>
              <a:ext cx="779040" cy="7120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35F588A7-3CA0-1ABE-1FEF-287110B1FF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30500" y="4364520"/>
                <a:ext cx="796680" cy="7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9992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06895-AF9A-5845-5043-BE662E44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INSERT</a:t>
            </a:r>
            <a:r>
              <a:rPr lang="en-US" altLang="ko-KR" sz="1400"/>
              <a:t>_PlaceOrder</a:t>
            </a:r>
            <a:endParaRPr lang="ko-KR" altLang="en-US" sz="1400"/>
          </a:p>
        </p:txBody>
      </p:sp>
      <p:pic>
        <p:nvPicPr>
          <p:cNvPr id="4" name="내용 개체 틀 3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53DF1E-03F7-A66F-EBEE-19ED22531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341" y="2153240"/>
            <a:ext cx="4914658" cy="3154852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2D5A14-DB9A-A591-2D76-A7B1EBEB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002" y="272320"/>
            <a:ext cx="4592519" cy="293008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86B0E3-7276-AB9F-E69F-C78DBB70A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999" y="3202400"/>
            <a:ext cx="4914658" cy="3107747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898306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7AD3-1039-2A04-A160-18D082B8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E78F4-318B-530E-1925-61972AF3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altLang="ko-KR"/>
              <a:t>DELETE</a:t>
            </a:r>
            <a:endParaRPr lang="ko-KR" altLang="en-US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069D57A7-6A82-5812-15AB-CC05BA614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D6E1F6-434E-155D-D77F-12E9762EF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81" y="484162"/>
            <a:ext cx="6559487" cy="538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46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BD8-43F0-4DEA-7255-C981820F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AA10C-8E49-255E-361D-047EC633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4272643" cy="1450757"/>
          </a:xfrm>
        </p:spPr>
        <p:txBody>
          <a:bodyPr>
            <a:normAutofit/>
          </a:bodyPr>
          <a:lstStyle/>
          <a:p>
            <a:r>
              <a:rPr lang="en-US" altLang="ko-KR"/>
              <a:t>DELETE</a:t>
            </a:r>
            <a:r>
              <a:rPr lang="en-US" altLang="ko-KR" sz="1600"/>
              <a:t>_Delete Review</a:t>
            </a:r>
            <a:endParaRPr lang="ko-KR" altLang="en-US" sz="1600"/>
          </a:p>
        </p:txBody>
      </p:sp>
      <p:pic>
        <p:nvPicPr>
          <p:cNvPr id="4" name="그림 3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0BF288-4AC1-4B56-6F92-AFDDD4A4F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692" y="1060705"/>
            <a:ext cx="7091116" cy="4607222"/>
          </a:xfrm>
          <a:prstGeom prst="rect">
            <a:avLst/>
          </a:prstGeom>
        </p:spPr>
      </p:pic>
      <p:pic>
        <p:nvPicPr>
          <p:cNvPr id="6" name="내용 개체 틀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E8EBE8-A4D7-21D3-327D-2FE61D5F9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6192" y="3901441"/>
            <a:ext cx="6174448" cy="1766486"/>
          </a:xfrm>
          <a:prstGeom prst="rect">
            <a:avLst/>
          </a:prstGeom>
          <a:ln w="5715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054310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DBE3B-47C1-0369-184A-AA1E8708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DELETE</a:t>
            </a:r>
            <a:r>
              <a:rPr lang="en-US" altLang="ko-KR" sz="1400"/>
              <a:t>_Delete Review</a:t>
            </a:r>
            <a:endParaRPr lang="ko-KR" altLang="en-US" sz="1400"/>
          </a:p>
        </p:txBody>
      </p:sp>
      <p:pic>
        <p:nvPicPr>
          <p:cNvPr id="4" name="내용 개체 틀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69C484-82B1-AB23-254A-5AEDC924E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1208" y="2207260"/>
            <a:ext cx="4382590" cy="3760788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BD28D8-0CC1-76A0-3FB9-8404A162A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24" y="2188698"/>
            <a:ext cx="4732655" cy="374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74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23130B-987C-9E25-4938-47595CD7F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7140" y="2291972"/>
            <a:ext cx="4411929" cy="3628811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81C9576-2781-4C4B-1227-5F16E8E6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altLang="ko-KR"/>
              <a:t>DELETE</a:t>
            </a:r>
            <a:r>
              <a:rPr lang="en-US" altLang="ko-KR" sz="1400"/>
              <a:t>_Delete Review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860081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7BB9D-0D71-F855-5F11-FCFD8E97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497D94-F090-2897-452C-0D954BB9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altLang="ko-KR"/>
              <a:t>UPDATE</a:t>
            </a:r>
            <a:endParaRPr lang="ko-KR" alt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5F13D094-74F5-BD70-C34E-5CB76D63E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3" name="그림 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8B938A-93F7-2381-DE09-5B49BA02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812"/>
          <a:stretch>
            <a:fillRect/>
          </a:stretch>
        </p:blipFill>
        <p:spPr>
          <a:xfrm>
            <a:off x="4807356" y="634946"/>
            <a:ext cx="6909801" cy="531440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311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25145-A483-DF25-A1F2-68E53719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UPDATE</a:t>
            </a:r>
            <a:r>
              <a:rPr lang="en-US" altLang="ko-KR" sz="1400"/>
              <a:t>_Recharge Balance</a:t>
            </a:r>
            <a:endParaRPr lang="ko-KR" altLang="en-US" sz="1400"/>
          </a:p>
        </p:txBody>
      </p:sp>
      <p:pic>
        <p:nvPicPr>
          <p:cNvPr id="4" name="내용 개체 틀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B16834-E0B2-B4C2-8DE8-800FAE3F0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520" y="3558540"/>
            <a:ext cx="3423412" cy="2122761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28FA92-CF9A-BED9-9E1C-A90D504BF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267" y="1663300"/>
            <a:ext cx="5967413" cy="437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996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96DD5-6AC4-3D5E-9E84-9C0D5450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CB17AFC-CA82-EBF8-B650-3AB63476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altLang="ko-KR"/>
              <a:t>UPDATE</a:t>
            </a:r>
            <a:r>
              <a:rPr lang="en-US" altLang="ko-KR" sz="1400"/>
              <a:t>_Recharge Balance</a:t>
            </a:r>
            <a:endParaRPr lang="ko-KR" altLang="en-US" sz="1400"/>
          </a:p>
        </p:txBody>
      </p:sp>
      <p:pic>
        <p:nvPicPr>
          <p:cNvPr id="2" name="내용 개체 틀 1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3AEE2F-2137-56F5-8001-1F76104C2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5758" y="2277848"/>
            <a:ext cx="6209814" cy="1227352"/>
          </a:xfrm>
          <a:prstGeom prst="rect">
            <a:avLst/>
          </a:prstGeom>
        </p:spPr>
      </p:pic>
      <p:pic>
        <p:nvPicPr>
          <p:cNvPr id="5" name="그림 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DA1323-22F8-9C1F-D98E-405125AFF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869" y="3779941"/>
            <a:ext cx="7164583" cy="14493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D049A90-E560-B3A7-ED09-05034076DA33}"/>
                  </a:ext>
                </a:extLst>
              </p14:cNvPr>
              <p14:cNvContentPartPr/>
              <p14:nvPr/>
            </p14:nvContentPartPr>
            <p14:xfrm>
              <a:off x="5035800" y="2383800"/>
              <a:ext cx="1274400" cy="7646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D049A90-E560-B3A7-ED09-05034076DA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7160" y="2375160"/>
                <a:ext cx="1292040" cy="7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4F2085A-536C-7EAF-D8F1-D0AB6D85ADAA}"/>
                  </a:ext>
                </a:extLst>
              </p14:cNvPr>
              <p14:cNvContentPartPr/>
              <p14:nvPr/>
            </p14:nvContentPartPr>
            <p14:xfrm>
              <a:off x="7977360" y="4045200"/>
              <a:ext cx="1091520" cy="8690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4F2085A-536C-7EAF-D8F1-D0AB6D85AD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68720" y="4036200"/>
                <a:ext cx="1109160" cy="88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48443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A9B362F-1B3C-5C8E-A837-8FB72474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altLang="ko-KR"/>
              <a:t>UPDATE</a:t>
            </a:r>
            <a:r>
              <a:rPr lang="en-US" altLang="ko-KR" sz="1400"/>
              <a:t>_Recharge Balance</a:t>
            </a:r>
            <a:endParaRPr lang="ko-KR" altLang="en-US" sz="1400"/>
          </a:p>
        </p:txBody>
      </p:sp>
      <p:pic>
        <p:nvPicPr>
          <p:cNvPr id="9" name="내용 개체 틀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03611-2EDB-10F3-ABB6-27DDA6D60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2493" y="2108200"/>
            <a:ext cx="4927014" cy="41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63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DBE95-26F6-B409-C8D1-3DE24082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Ｃｕｓｔｏｍ</a:t>
            </a:r>
          </a:p>
        </p:txBody>
      </p:sp>
      <p:pic>
        <p:nvPicPr>
          <p:cNvPr id="4" name="내용 개체 틀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B41C5D-2E2E-38F3-E16C-F5DA8D9BE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7935" y="1843024"/>
            <a:ext cx="5957090" cy="439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535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Malgun Gothic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 Semi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1129</Words>
  <Application>Microsoft Office PowerPoint</Application>
  <PresentationFormat>와이드스크린</PresentationFormat>
  <Paragraphs>326</Paragraphs>
  <Slides>46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Malgun Gothic Semilight</vt:lpstr>
      <vt:lpstr>맑은 고딕</vt:lpstr>
      <vt:lpstr>맑은 고딕</vt:lpstr>
      <vt:lpstr>Arial</vt:lpstr>
      <vt:lpstr>Calibri</vt:lpstr>
      <vt:lpstr>Wingdings</vt:lpstr>
      <vt:lpstr>RetrospectVTI</vt:lpstr>
      <vt:lpstr>온라인 쇼핑몰 관리 시스템</vt:lpstr>
      <vt:lpstr>목차</vt:lpstr>
      <vt:lpstr>주제선정</vt:lpstr>
      <vt:lpstr>요구사항분석</vt:lpstr>
      <vt:lpstr>요구사항분석</vt:lpstr>
      <vt:lpstr>요구사항분석</vt:lpstr>
      <vt:lpstr>요구사항분석</vt:lpstr>
      <vt:lpstr>요구사항분석</vt:lpstr>
      <vt:lpstr>요구사항분석</vt:lpstr>
      <vt:lpstr>ER 다이어그램(Entity)</vt:lpstr>
      <vt:lpstr>ER 다이어그램(Relationship)</vt:lpstr>
      <vt:lpstr>ER 다이어그램(Relationship)</vt:lpstr>
      <vt:lpstr>ER 다이어그램(Relationship)</vt:lpstr>
      <vt:lpstr>ER 다이어그램(Relationship)</vt:lpstr>
      <vt:lpstr>ER 다이어그램(Relationship)</vt:lpstr>
      <vt:lpstr>최종 ER 다이어그램</vt:lpstr>
      <vt:lpstr>스키마 매핑 (Phase1)</vt:lpstr>
      <vt:lpstr>스키마 매핑 (Phase2)</vt:lpstr>
      <vt:lpstr>스키마 매핑 (Phase3)</vt:lpstr>
      <vt:lpstr>스키마 매핑 (Phase4)</vt:lpstr>
      <vt:lpstr>스키마 매핑 (Phase5)</vt:lpstr>
      <vt:lpstr>스키마 매핑 (Phase6)</vt:lpstr>
      <vt:lpstr>스키마 매핑 (Phase7)</vt:lpstr>
      <vt:lpstr>정규화</vt:lpstr>
      <vt:lpstr>최종 DB Schema</vt:lpstr>
      <vt:lpstr>외래키 관련 조건 설정</vt:lpstr>
      <vt:lpstr>외래키 관련 조건 설정</vt:lpstr>
      <vt:lpstr>외래키 관련 조건 설정</vt:lpstr>
      <vt:lpstr>외래키 관련 조건 설정</vt:lpstr>
      <vt:lpstr>외래키 관련 조건 설정</vt:lpstr>
      <vt:lpstr>메인화면</vt:lpstr>
      <vt:lpstr>SELECT</vt:lpstr>
      <vt:lpstr>SELECT_Reviews</vt:lpstr>
      <vt:lpstr>INSERT</vt:lpstr>
      <vt:lpstr>INSERT_PlaceOrder</vt:lpstr>
      <vt:lpstr>INSERT_PlaceOrder</vt:lpstr>
      <vt:lpstr>INSERT_PlaceOrder</vt:lpstr>
      <vt:lpstr>DELETE</vt:lpstr>
      <vt:lpstr>DELETE_Delete Review</vt:lpstr>
      <vt:lpstr>DELETE_Delete Review</vt:lpstr>
      <vt:lpstr>DELETE_Delete Review</vt:lpstr>
      <vt:lpstr>UPDATE</vt:lpstr>
      <vt:lpstr>UPDATE_Recharge Balance</vt:lpstr>
      <vt:lpstr>UPDATE_Recharge Balance</vt:lpstr>
      <vt:lpstr>UPDATE_Recharge Balance</vt:lpstr>
      <vt:lpstr>Ｃｕｓｔｏｍ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규민 이</dc:creator>
  <cp:lastModifiedBy>규민 이</cp:lastModifiedBy>
  <cp:revision>12</cp:revision>
  <dcterms:created xsi:type="dcterms:W3CDTF">2025-06-08T22:44:05Z</dcterms:created>
  <dcterms:modified xsi:type="dcterms:W3CDTF">2025-06-10T19:51:49Z</dcterms:modified>
</cp:coreProperties>
</file>